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day. My project is acceptance and regression testing of the SENTRY SWM-2 firmware, a sonar watch module running on an ESP32-S3, connected over UART on COM6.</a:t>
            </a:r>
          </a:p>
          <a:p/>
          <a:p>
            <a:r>
              <a:t>The question I had to answer is simple: **is firmware 2.3.0 beta ready to replace 2.1.0 stable?** To answer it I tested both versions on the same real board, against the same requirements document, and compared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starts from the PRD. I built a traceability matrix from the requirements to 67 defined test cases, so every test can be traced back to a requirement.</a:t>
            </a:r>
          </a:p>
          <a:p/>
          <a:p>
            <a:r>
              <a:t>I ran acceptance and regression tests on both versions: normal behaviour, boundary values, invalid input, persistence after reboot, and OTA failures.</a:t>
            </a:r>
          </a:p>
          <a:p/>
          <a:p>
            <a:r>
              <a:t>By the end I had **101 recorded result rows across 64 distinct case IDs**: 40 Pass, 47 Partial, 11 Fail, 2 Investigate and 1 Not run. I want to be honest about what this means: these are execution records, **not** a percentage of total planned coverage. Partial means it passed within a limited scope, not a full pass.</a:t>
            </a:r>
          </a:p>
          <a:p/>
          <a:p>
            <a:r>
              <a:t>The testing found seven bugs, and I will show the most important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[Point to the embedded red, green and blue photos. If time permits, play 15–20 s of the separate LED video.]</a:t>
            </a:r>
          </a:p>
          <a:p/>
          <a:p>
            <a:r>
              <a:t>[Original red, green and blue photos are linked in the evidence index: `evidence/README.md`.]</a:t>
            </a:r>
          </a:p>
          <a:p/>
          <a:p>
            <a:r>
              <a:t>This is the bench. An ESP32-S3 board connected over UART at 115200 baud, a Wi-Fi network with a local OTA server, an ultrasonic sonar, a relay module on GPIO8, an RGB lamp on GPIO48, four buttons on GPIO41, 40, 39 and 38, and a proximity LED on GPIO4.</a:t>
            </a:r>
          </a:p>
          <a:p/>
          <a:p>
            <a:r>
              <a:t>Safety came first. The relay was only used at low voltage with no load, and I did not use mains or hazardous loads. I also automated the command side with a small Python helper that logs in, sends commands and captures the output, while a human was needed for physical observation: LED colours, the relay click, button presses and placing the sonar target with a ruler.</a:t>
            </a:r>
          </a:p>
          <a:p/>
          <a:p>
            <a:r>
              <a:t>Physical observations remain manual. The new assertion-based tests are shown on slide 7. All logs were sanitised.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OTA is the riskiest part of a firmware release, so I tested it deeply.</a:t>
            </a:r>
          </a:p>
          <a:p/>
          <a:p>
            <a:r>
              <a:t>Upgrade from 2.1.0 to 2.3.0 worked and passed the self-check. A deliberately broken image failed the self-check and the device rolled back automatically. Manual rollback worked in both directions, and I used it again to switch versions safely for the final repeat tests.</a:t>
            </a:r>
          </a:p>
          <a:p/>
          <a:p>
            <a:r>
              <a:t>I also ran a local-server fault matrix on **both** versions: garbage, truncated, corrupted and interrupted images. They were all rejected cleanly, with no corruption, and the device recovered each time. Downgrade protection (E408) and error codes for a bad URL or version also worked.</a:t>
            </a:r>
          </a:p>
          <a:p/>
          <a:p>
            <a:r>
              <a:t>One thing I could not prove: Wi-Fi loss in the middle of a transfer. UART is blocked during OTA, so that case stays inconclusive, and I list it as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the features: login and states, sonar, relay, lamp, health reports, and in 2.3.0 the new Guard and Alert Center.</a:t>
            </a:r>
          </a:p>
          <a:p/>
          <a:p>
            <a:r>
              <a:t>I ran a full account and password boundary matrix and a 136-expectation functional regression suite on both versions.</a:t>
            </a:r>
          </a:p>
          <a:p/>
          <a:p>
            <a:r>
              <a:t>On the hardware, I physically confirmed the RGB colours, the relay click, all four buttons and every state chord, including EMERGENCY, where buttons are blocked and the only exit is a reboot.</a:t>
            </a:r>
          </a:p>
          <a:p/>
          <a:p>
            <a:r>
              <a:t>Guard worked end to end: arming with a countdown, intrusion, a 15-second disarm window and then ALARM. ALARM opens the relay and raises a CRITICAL alert. I also tested the K4-hold PANIC, sensor tamper, and alert retention capped at 20.</a:t>
            </a:r>
          </a:p>
          <a:p/>
          <a:p>
            <a:r>
              <a:t>On 2.1.0 these Guard and Alert commands correctly report that they are planned for 2.3.0.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most important slide; slow down.]</a:t>
            </a:r>
          </a:p>
          <a:p/>
          <a:p>
            <a:r>
              <a:t>Seven bugs. The key point is that most are **not** beta regressions.</a:t>
            </a:r>
          </a:p>
          <a:p/>
          <a:p>
            <a:r>
              <a:t>- **BUG-01:** `distance 20` is rejected, although the PRD range is 1 to 20. Both versions.</a:t>
            </a:r>
          </a:p>
          <a:p>
            <a:r>
              <a:t>- **BUG-02:** `relay pulse` accepts values below the PRD minimum of 100 ms. Both versions.</a:t>
            </a:r>
          </a:p>
          <a:p>
            <a:r>
              <a:t>- **BUG-04:** the relay cycle counter miscounts. On 2.1.0 every switch adds two; on 2.3.0 the last increment is lost across a reboot.</a:t>
            </a:r>
          </a:p>
          <a:p>
            <a:r>
              <a:t>- **BUG-03:** a health interval of 300 seconds is rejected on 2.1.0 but accepted on 2.3.0. This is stable-only, so 2.3.0 actually fixes it.</a:t>
            </a:r>
          </a:p>
          <a:p>
            <a:r>
              <a:t>- **BUG-05:** a cosmetic one on 2.1.0: the lamp timer message says "ms" but the timing is in seconds.</a:t>
            </a:r>
          </a:p>
          <a:p>
            <a:r>
              <a:t>- **BUG-06:** new in 2.3.0 Guard. The wrong-PIN counter never resets. After three wrong PINs over the device's lifetime since boot, a single typo raises ALARM. A reboot clears it.</a:t>
            </a:r>
          </a:p>
          <a:p>
            <a:r>
              <a:t>- **BUG-07:** the documented command `distance calibrate reset` returns an error on both versions. The undocumented `distance reset` works.</a:t>
            </a:r>
          </a:p>
          <a:p/>
          <a:p>
            <a:r>
              <a:t>As a bonus, during authorised security exploration I found a leaked debug sudo password and a hidden selftest command. I reported them responsibly and redacted them everywhere in my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make recurring failures easy to retest, I delivered a small Python unittest</a:t>
            </a:r>
          </a:p>
          <a:p>
            <a:r>
              <a:t>suite that communicates with the actual board over UART. It contains four</a:t>
            </a:r>
          </a:p>
          <a:p>
            <a:r>
              <a:t>tests with automatic assertions against the PRD, including valid boundaries</a:t>
            </a:r>
          </a:p>
          <a:p>
            <a:r>
              <a:t>and neighbouring invalid inputs.</a:t>
            </a:r>
          </a:p>
          <a:p/>
          <a:p>
            <a:r>
              <a:t>On firmware 2.3.0, the live run produced one passing test and three failing</a:t>
            </a:r>
          </a:p>
          <a:p>
            <a:r>
              <a:t>tests, with no setup or cleanup errors. Distance count 20, the 99-millisecond</a:t>
            </a:r>
          </a:p>
          <a:p>
            <a:r>
              <a:t>relay pulse and the documented calibration-reset command reproduced BUG-01,</a:t>
            </a:r>
          </a:p>
          <a:p>
            <a:r>
              <a:t>BUG-02 and BUG-07. The health interval test passed: 300 seconds was accepted</a:t>
            </a:r>
          </a:p>
          <a:p>
            <a:r>
              <a:t>and 301 rejected.</a:t>
            </a:r>
          </a:p>
          <a:p/>
          <a:p>
            <a:r>
              <a:t>These red results are evidence of firmware defects, not a broken runner.</a:t>
            </a:r>
          </a:p>
          <a:p>
            <a:r>
              <a:t>The runner records sanitised UART transcripts, assertion results and a JSON</a:t>
            </a:r>
          </a:p>
          <a:p>
            <a:r>
              <a:t>summary. It closes the relay and restores the original health interval.</a:t>
            </a:r>
          </a:p>
          <a:p>
            <a:r>
              <a:t>Seven offline tests also passed to validate the runner itself.</a:t>
            </a:r>
          </a:p>
          <a:p/>
          <a:p>
            <a:r>
              <a:t>The new suite was hardware-validated on 2.3.0 only. It does not claim physical</a:t>
            </a:r>
          </a:p>
          <a:p>
            <a:r>
              <a:t>relay-contact verification or sonar accuracy, and the reset test checks syntax</a:t>
            </a:r>
          </a:p>
          <a:p>
            <a:r>
              <a:t>from an initially zero offset. These four tests supplement, rather than replace,</a:t>
            </a:r>
          </a:p>
          <a:p>
            <a:r>
              <a:t>the earlier 101 execution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recommendation is **NO-GO for promoting 2.3.0 to stable at this time.**</a:t>
            </a:r>
          </a:p>
          <a:p/>
          <a:p>
            <a:r>
              <a:t>BUG-01, BUG-02 and BUG-04 violate PRD limits on both versions, and BUG-06 adds a real false-alarm risk in the new Guard feature. This is a recommendation about this specific build, not a claim that 2.3.0 is generally worse than 2.1.0. Retest after fixes.</a:t>
            </a:r>
          </a:p>
          <a:p/>
          <a:p>
            <a:r>
              <a:t>Gaps remain, and I state them openly: the calibrate boundaries of 5 and 300 cm were not run, relay contact behaviour under real load was not measured, and Wi-Fi loss during OTA is inconclusive.</a:t>
            </a:r>
          </a:p>
          <a:p/>
          <a:p>
            <a:r>
              <a:t>Lessons: test against the requirements, not against assumptions; run the same boundaries on every version, because that is how you separate old defects from regressions; and keep evidence sanitised and reproducible. I corrected one of my own early mistakes along the way, a calibrate-reset result I had first misread, which is why re-checking matters.</a:t>
            </a:r>
          </a:p>
          <a:p/>
          <a:p>
            <a:r>
              <a:t>Thank you. I am ready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01 / FIRMWARE ACCEPTANCE AND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SENTRY SWM-2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097280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0243A"/>
                </a:solidFill>
                <a:latin typeface="Arial"/>
              </a:rPr>
              <a:t>Stable 2.1.0 versus beta 2.3.0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1097280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600" b="0">
                <a:solidFill>
                  <a:srgbClr val="10243A"/>
                </a:solidFill>
                <a:latin typeface="Arial"/>
              </a:rPr>
              <a:t>Is the beta ready to become the stable release?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86200"/>
            <a:ext cx="1097280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991B1B"/>
                </a:solidFill>
                <a:latin typeface="Arial"/>
              </a:rPr>
              <a:t>RELEASE RECOMMENDATION: NO-GO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983480"/>
            <a:ext cx="1097280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0243A"/>
                </a:solidFill>
                <a:latin typeface="Arial"/>
              </a:rPr>
              <a:t>Real ESP32-S3 bench + PRD traceability + reproducible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02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Requirements, strategy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783080"/>
            <a:ext cx="4023360" cy="356616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65760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075985"/>
                </a:solidFill>
                <a:latin typeface="Arial"/>
              </a:rPr>
              <a:t>67 defined test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3657600" cy="22860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PRD -&gt; test cases -&gt; evidence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Both firmware versions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101 rows / 64 case IDs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Counts, not coverage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155448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0243A"/>
                </a:solidFill>
                <a:latin typeface="Arial"/>
              </a:rPr>
              <a:t>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020824"/>
            <a:ext cx="4389120" cy="2743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0" y="2020824"/>
            <a:ext cx="3511296" cy="274320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09959" y="1965960"/>
            <a:ext cx="5943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66534"/>
                </a:solidFill>
                <a:latin typeface="Arial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606039"/>
            <a:ext cx="155448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0243A"/>
                </a:solidFill>
                <a:latin typeface="Arial"/>
              </a:rPr>
              <a:t>Partial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2660903"/>
            <a:ext cx="4389120" cy="2743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0" y="2660903"/>
            <a:ext cx="4125772" cy="274320"/>
          </a:xfrm>
          <a:prstGeom prst="round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09959" y="2606039"/>
            <a:ext cx="5943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246120"/>
            <a:ext cx="155448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0243A"/>
                </a:solidFill>
                <a:latin typeface="Arial"/>
              </a:rPr>
              <a:t>Fail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300984"/>
            <a:ext cx="4389120" cy="2743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0" y="3300984"/>
            <a:ext cx="965606" cy="274320"/>
          </a:xfrm>
          <a:prstGeom prst="round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09959" y="3246120"/>
            <a:ext cx="5943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1B1B"/>
                </a:solidFill>
                <a:latin typeface="Arial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886200"/>
            <a:ext cx="155448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0243A"/>
                </a:solidFill>
                <a:latin typeface="Arial"/>
              </a:rPr>
              <a:t>Investigate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3941063"/>
            <a:ext cx="4389120" cy="2743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83680" y="3941063"/>
            <a:ext cx="175564" cy="274320"/>
          </a:xfrm>
          <a:prstGeom prst="roundRect">
            <a:avLst/>
          </a:prstGeom>
          <a:solidFill>
            <a:srgbClr val="854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09959" y="3886200"/>
            <a:ext cx="5943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854D0E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526279"/>
            <a:ext cx="155448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0243A"/>
                </a:solidFill>
                <a:latin typeface="Arial"/>
              </a:rPr>
              <a:t>Not 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4581143"/>
            <a:ext cx="4389120" cy="2743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83680" y="4581143"/>
            <a:ext cx="87782" cy="2743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09959" y="4526279"/>
            <a:ext cx="5943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475569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66928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100" b="0">
                <a:solidFill>
                  <a:srgbClr val="10243A"/>
                </a:solidFill>
                <a:latin typeface="Arial"/>
              </a:rPr>
              <a:t>Separate Oct 23 supplement: 4 automated tests on actual firmware 2.3.0.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03 / BENCH AND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Real hardware, manual observations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3</a:t>
            </a:r>
          </a:p>
        </p:txBody>
      </p:sp>
      <p:pic>
        <p:nvPicPr>
          <p:cNvPr id="7" name="Picture 6" descr="photo_2026-10-23_20-38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74519"/>
            <a:ext cx="3474720" cy="25843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572000"/>
            <a:ext cx="347472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991B1B"/>
                </a:solidFill>
                <a:latin typeface="Arial"/>
              </a:rPr>
              <a:t>RED  (255, 0, 0)</a:t>
            </a:r>
          </a:p>
        </p:txBody>
      </p:sp>
      <p:pic>
        <p:nvPicPr>
          <p:cNvPr id="9" name="Picture 8" descr="photo_2026-10-23_20-38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874519"/>
            <a:ext cx="3474720" cy="25843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61688" y="4572000"/>
            <a:ext cx="347472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166534"/>
                </a:solidFill>
                <a:latin typeface="Arial"/>
              </a:rPr>
              <a:t>GREEN  (0, 255, 0)</a:t>
            </a:r>
          </a:p>
        </p:txBody>
      </p:sp>
      <p:pic>
        <p:nvPicPr>
          <p:cNvPr id="11" name="Picture 10" descr="photo_2026-10-23_20-37-5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1874519"/>
            <a:ext cx="3474720" cy="25843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29016" y="4572000"/>
            <a:ext cx="347472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BLUE  (0, 0, 255)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6636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COM6 -&gt; ESP32-S3 | sonar, relay, RGB and buttons | solid lamp, 80% brightness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66928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10243A"/>
                </a:solidFill>
                <a:latin typeface="Arial"/>
              </a:rPr>
              <a:t>Tester confirmed each colour; bright cores are overexposed. Low voltage, relay unloaded.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04 / FIRMWARE UPDATE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OTA recovery and version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3291840" cy="123444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993392"/>
            <a:ext cx="30632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075985"/>
                </a:solidFill>
                <a:latin typeface="Arial"/>
              </a:rPr>
              <a:t>STABLE 2.1.0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14600"/>
            <a:ext cx="30632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0243A"/>
                </a:solidFill>
                <a:latin typeface="Arial"/>
              </a:rPr>
              <a:t>Known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74519"/>
            <a:ext cx="3291840" cy="123444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993392"/>
            <a:ext cx="30632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075985"/>
                </a:solidFill>
                <a:latin typeface="Arial"/>
              </a:rPr>
              <a:t>UPDATE +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14600"/>
            <a:ext cx="30632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0243A"/>
                </a:solidFill>
                <a:latin typeface="Arial"/>
              </a:rPr>
              <a:t>Download / boot / validate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874519"/>
            <a:ext cx="3291840" cy="123444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993392"/>
            <a:ext cx="30632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075985"/>
                </a:solidFill>
                <a:latin typeface="Arial"/>
              </a:rPr>
              <a:t>BETA 2.3.0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2514600"/>
            <a:ext cx="30632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0243A"/>
                </a:solidFill>
                <a:latin typeface="Arial"/>
              </a:rPr>
              <a:t>Valid running image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240280"/>
            <a:ext cx="5029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075985"/>
                </a:solidFill>
                <a:latin typeface="Arial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240280"/>
            <a:ext cx="5029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075985"/>
                </a:solidFill>
                <a:latin typeface="Arial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429000"/>
            <a:ext cx="10972800" cy="77724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6616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991B1B"/>
                </a:solidFill>
                <a:latin typeface="Arial"/>
              </a:rPr>
              <a:t>Broken image -&gt; self-check failure -&gt; automatic rollback -&gt; usable firmware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26280"/>
            <a:ext cx="1097280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Both builds: garbage, truncated, corrupted and interrupted-image tests.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Manual rollback both ways; downgrade, URL, server and channel checks.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66928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Open limitation: Wi-Fi loss during an active transfer remains inconclusive.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05 / FUNCTIONAL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Product features verified on the 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Account/password boundaries; states, lamp, relay, sonar and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96312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K1-K4 and all four state chords; EMERGENCY blocks buttons, reboot-only exit.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63824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2.3.0 Guard: arm, intrusion delay, ALARM, K4 PANIC and sensor tamper.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31335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31335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CRITICAL alerts and relay response; acknowledgements and 20-alert retention.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98848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2.1.0 Guard/Alert commands report E099: feature planned for 2.3.0.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LED/relay video and sanitized UART logs included in the complete ZIP.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06 / DEFECTS,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Seven confirmed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55648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755648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Both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755648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distance 20 rejected; PRD allows 1-20.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76856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276856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276856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Relay pulse below 100 ms accepted.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98063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798063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2.1.0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98063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Health interval 300 s rejected; beta accepts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319272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19272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Both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319272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Relay cycles: double-count / reboot loses increment.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40479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840479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2.1.0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840479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Lamp timer message says ms instead of s (cosmetic).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61688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361688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2.3.0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4361688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Wrong-PIN count accumulates until reboot: false-alarm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82896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4882896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Both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882896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Documented calibration-reset syntax rejected.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87568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0243A"/>
                </a:solidFill>
                <a:latin typeface="Arial"/>
              </a:rPr>
              <a:t>Most are existing defects, not beta regressions. Debug-secret finding disclosed and redacted.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07 / OCTOBER 23 LIVE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Automated regression: real board, real assertions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91640"/>
            <a:ext cx="2468880" cy="9601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773936"/>
            <a:ext cx="73152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075985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38528"/>
            <a:ext cx="15087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075985"/>
                </a:solidFill>
                <a:latin typeface="Arial"/>
              </a:rPr>
              <a:t>LIVE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691640"/>
            <a:ext cx="2468880" cy="9601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773936"/>
            <a:ext cx="73152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66534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938528"/>
            <a:ext cx="15087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166534"/>
                </a:solidFill>
                <a:latin typeface="Arial"/>
              </a:rPr>
              <a:t>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468880" cy="9601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773936"/>
            <a:ext cx="73152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991B1B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38528"/>
            <a:ext cx="15087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991B1B"/>
                </a:solidFill>
                <a:latin typeface="Arial"/>
              </a:rPr>
              <a:t>FAIL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691640"/>
            <a:ext cx="2468880" cy="960120"/>
          </a:xfrm>
          <a:prstGeom prst="roundRect">
            <a:avLst/>
          </a:prstGeom>
          <a:solidFill>
            <a:srgbClr val="E8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7" y="1773936"/>
            <a:ext cx="73152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075985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9" y="1938528"/>
            <a:ext cx="15087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075985"/>
                </a:solidFill>
                <a:latin typeface="Arial"/>
              </a:rPr>
              <a:t>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52928"/>
            <a:ext cx="10058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991B1B"/>
                </a:solidFill>
                <a:latin typeface="Arial"/>
              </a:rPr>
              <a:t>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2852928"/>
            <a:ext cx="97840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BUG-01: distance 20 must be accepted.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0984"/>
            <a:ext cx="10058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991B1B"/>
                </a:solidFill>
                <a:latin typeface="Arial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300984"/>
            <a:ext cx="97840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BUG-02: relay pulse 99 ms must be rejected.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749039"/>
            <a:ext cx="10058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166534"/>
                </a:solidFill>
                <a:latin typeface="Arial"/>
              </a:rP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749039"/>
            <a:ext cx="97840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BUG-03: health 300 s accepted; 301 s rejected.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197096"/>
            <a:ext cx="10058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991B1B"/>
                </a:solidFill>
                <a:latin typeface="Arial"/>
              </a:rPr>
              <a:t>FAIL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197096"/>
            <a:ext cx="97840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BUG-07: distance calibrate reset must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681728"/>
            <a:ext cx="10972800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Python unittest + pyserial | sanitized transcript + assertions + JSON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Cleanup verified: relay closed; starting health interval restored.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235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0243A"/>
                </a:solidFill>
                <a:latin typeface="Arial"/>
              </a:rPr>
              <a:t>7 offline harness checks passed. Live suite validated on 2.3.0 only; physical outputs remain manual.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08 / RECOMMENDATION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Decision: do not promote 2.3.0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NO-GO: confirmed PRD violations plus Guard false-alarm risk.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96312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Fix BUG-01/02/04/06; assess remaining defects and rerun regression tests.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63824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Known failures stay red: the suite must not accept incorrect firmware.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31335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31335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Not run: 5/300 cm calibration targets; relay contacts under real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98848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Inconclusive: Wi-Fi loss during OTA. New automated suite: beta-only live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Delivered: report, traceability, bugs, logs, video, test code and rerun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