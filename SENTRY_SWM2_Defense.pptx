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85800" y="731520"/>
            <a:ext cx="128016" cy="914400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749808"/>
            <a:ext cx="1033272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ED2BE"/>
                </a:solidFill>
                <a:latin typeface="Aptos"/>
              </a:defRPr>
            </a:pPr>
            <a:r>
              <a:t>COURSE PROJECT   |   HW-17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417320"/>
            <a:ext cx="9875520" cy="13258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3100" b="1">
                <a:solidFill>
                  <a:srgbClr val="EEF4FA"/>
                </a:solidFill>
                <a:latin typeface="Aptos"/>
              </a:defRPr>
            </a:pPr>
            <a:r>
              <a:t>SENTRY SWM-2</a:t>
            </a:r>
          </a:p>
          <a:p>
            <a:pPr>
              <a:spcAft>
                <a:spcPts val="800"/>
              </a:spcAft>
              <a:defRPr sz="3100" b="1">
                <a:solidFill>
                  <a:srgbClr val="EEF4FA"/>
                </a:solidFill>
                <a:latin typeface="Aptos"/>
              </a:defRPr>
            </a:pPr>
            <a:r>
              <a:t>Firmware Acceptance &amp;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33271" y="3154680"/>
            <a:ext cx="9692640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2100" b="0">
                <a:solidFill>
                  <a:srgbClr val="A3B5C9"/>
                </a:solidFill>
                <a:latin typeface="Aptos"/>
              </a:defRPr>
            </a:pPr>
            <a:r>
              <a:t>Stable 2.1.0  vs  Beta 2.3.0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05840" y="3977639"/>
            <a:ext cx="4846320" cy="658368"/>
          </a:xfrm>
          <a:prstGeom prst="roundRect">
            <a:avLst>
              <a:gd name="adj" fmla="val 12000"/>
            </a:avLst>
          </a:prstGeom>
          <a:solidFill>
            <a:srgbClr val="4622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70432" y="4105656"/>
            <a:ext cx="4526280" cy="3657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FF676F"/>
                </a:solidFill>
                <a:latin typeface="Aptos"/>
              </a:defRPr>
            </a:pPr>
            <a:r>
              <a:t>RELEASE RECOMMENDATION: NO-GO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1" y="4983480"/>
            <a:ext cx="969264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500" b="0">
                <a:solidFill>
                  <a:srgbClr val="A3B5C9"/>
                </a:solidFill>
                <a:latin typeface="Aptos"/>
              </a:defRPr>
            </a:pPr>
            <a:r>
              <a:t>ESP32-S3  |  COM6  |  UART 115200 8N1</a:t>
            </a:r>
          </a:p>
          <a:p>
            <a:r>
              <a:t>Test evidence collected 19-21 October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473952"/>
            <a:ext cx="1051560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000" b="0">
                <a:solidFill>
                  <a:srgbClr val="A3B5C9"/>
                </a:solidFill>
                <a:latin typeface="Aptos"/>
              </a:defRPr>
            </a:pPr>
            <a:r>
              <a:t>Interim report  |  Account/OTA/functional/security regression complete  |  Physical relay output not verified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09728" cy="438912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93192"/>
            <a:ext cx="1088136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ED2BE"/>
                </a:solidFill>
                <a:latin typeface="Aptos"/>
              </a:defRPr>
            </a:pPr>
            <a:r>
              <a:t>01 / METHOD &amp;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694944"/>
            <a:ext cx="1088136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EEF4FA"/>
                </a:solidFill>
                <a:latin typeface="Aptos"/>
              </a:defRPr>
            </a:pPr>
            <a:r>
              <a:t>PRD-driven testing, not a coverage claim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55664"/>
            <a:ext cx="10927080" cy="10972"/>
          </a:xfrm>
          <a:prstGeom prst="rect">
            <a:avLst/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6510528"/>
            <a:ext cx="9784080" cy="1828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3B5C9"/>
                </a:solidFill>
                <a:latin typeface="Aptos"/>
              </a:defRPr>
            </a:pPr>
            <a:r>
              <a:t>SENTRY SWM-2  |  Acceptance &amp; regression testing  |  Evidence through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92240"/>
            <a:ext cx="41148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800"/>
              </a:spcAft>
              <a:defRPr sz="1000" b="1">
                <a:solidFill>
                  <a:srgbClr val="A3B5C9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508760"/>
            <a:ext cx="3429000" cy="155448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6112" y="1709928"/>
            <a:ext cx="54864" cy="1152144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1673351"/>
            <a:ext cx="289864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67 test cases defined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8992" y="2121408"/>
            <a:ext cx="2898648" cy="841247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Acceptance + regression cases derived from fw_7 PRD, including boundary, negative, persistence and OTA checks.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1508760"/>
            <a:ext cx="3429000" cy="155448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35424" y="1709928"/>
            <a:ext cx="54864" cy="1152144"/>
          </a:xfrm>
          <a:prstGeom prst="rect">
            <a:avLst/>
          </a:prstGeom>
          <a:solidFill>
            <a:srgbClr val="FFB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18304" y="1673351"/>
            <a:ext cx="289864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101 result rows recorded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18304" y="2121408"/>
            <a:ext cx="2898648" cy="841247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Across 64 distinct case IDs. Rows are execution records, not the fraction of all planned coverage.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0144" y="1508760"/>
            <a:ext cx="3429000" cy="155448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709928"/>
            <a:ext cx="54864" cy="1152144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1673351"/>
            <a:ext cx="289864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Two versions compared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121408"/>
            <a:ext cx="2898648" cy="841247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2.1.0 stable baseline and 2.3.0 beta; repeat boundary tests to distinguish existing defects from regressions.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74720"/>
            <a:ext cx="5029200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3B5C9"/>
                </a:solidFill>
                <a:latin typeface="Aptos"/>
              </a:defRPr>
            </a:pPr>
            <a:r>
              <a:t>RECORDED RESULT ROWS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977639"/>
            <a:ext cx="1600200" cy="868680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96512"/>
            <a:ext cx="1417320" cy="2468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6EDC9B"/>
                </a:solidFill>
                <a:latin typeface="Aptos"/>
              </a:defRPr>
            </a:pPr>
            <a:r>
              <a:t>40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25696"/>
            <a:ext cx="1417320" cy="2286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1100" b="0">
                <a:solidFill>
                  <a:srgbClr val="A3B5C9"/>
                </a:solidFill>
                <a:latin typeface="Aptos"/>
              </a:defRPr>
            </a:pPr>
            <a:r>
              <a:t>Pass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33472" y="3977639"/>
            <a:ext cx="1600200" cy="868680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24912" y="4096512"/>
            <a:ext cx="1417320" cy="2468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FFBF47"/>
                </a:solidFill>
                <a:latin typeface="Aptos"/>
              </a:defRPr>
            </a:pPr>
            <a:r>
              <a:t>47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24912" y="4425696"/>
            <a:ext cx="1417320" cy="2286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1100" b="0">
                <a:solidFill>
                  <a:srgbClr val="A3B5C9"/>
                </a:solidFill>
                <a:latin typeface="Aptos"/>
              </a:defRPr>
            </a:pPr>
            <a:r>
              <a:t>Partial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98264" y="3977639"/>
            <a:ext cx="1600200" cy="868680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89703" y="4096512"/>
            <a:ext cx="1417320" cy="2468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FF676F"/>
                </a:solidFill>
                <a:latin typeface="Aptos"/>
              </a:defRPr>
            </a:pPr>
            <a:r>
              <a:t>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9703" y="4425696"/>
            <a:ext cx="1417320" cy="2286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1100" b="0">
                <a:solidFill>
                  <a:srgbClr val="A3B5C9"/>
                </a:solidFill>
                <a:latin typeface="Aptos"/>
              </a:defRPr>
            </a:pPr>
            <a:r>
              <a:t>Fail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163055" y="3977639"/>
            <a:ext cx="1993392" cy="868680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54495" y="4096512"/>
            <a:ext cx="1810512" cy="2468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2ED2BE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54495" y="4425696"/>
            <a:ext cx="1810512" cy="2286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1100" b="0">
                <a:solidFill>
                  <a:srgbClr val="A3B5C9"/>
                </a:solidFill>
                <a:latin typeface="Aptos"/>
              </a:defRPr>
            </a:pPr>
            <a:r>
              <a:t>Investigate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321040" y="3977639"/>
            <a:ext cx="1993392" cy="868680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412480" y="4096512"/>
            <a:ext cx="1810512" cy="2468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2200" b="1">
                <a:solidFill>
                  <a:srgbClr val="A3B5C9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12480" y="4425696"/>
            <a:ext cx="1810512" cy="2286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1100" b="0">
                <a:solidFill>
                  <a:srgbClr val="A3B5C9"/>
                </a:solidFill>
                <a:latin typeface="Aptos"/>
              </a:defRPr>
            </a:pPr>
            <a:r>
              <a:t>Not run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8680" y="5257800"/>
            <a:ext cx="10378440" cy="621792"/>
          </a:xfrm>
          <a:prstGeom prst="roundRect">
            <a:avLst>
              <a:gd name="adj" fmla="val 12000"/>
            </a:avLst>
          </a:prstGeom>
          <a:solidFill>
            <a:srgbClr val="322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560" y="5404104"/>
            <a:ext cx="9966960" cy="31089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FFBF47"/>
                </a:solidFill>
                <a:latin typeface="Aptos"/>
              </a:defRPr>
            </a:pPr>
            <a:r>
              <a:t>Interpretation: unrepresented cases remain pending; Partial is not a full pass.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09728" cy="438912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93192"/>
            <a:ext cx="1088136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ED2BE"/>
                </a:solidFill>
                <a:latin typeface="Aptos"/>
              </a:defRPr>
            </a:pPr>
            <a:r>
              <a:t>02 / BENCH &amp;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694944"/>
            <a:ext cx="1088136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EEF4FA"/>
                </a:solidFill>
                <a:latin typeface="Aptos"/>
              </a:defRPr>
            </a:pPr>
            <a:r>
              <a:t>Test bench, evidence boundaries, and safety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55664"/>
            <a:ext cx="10927080" cy="10972"/>
          </a:xfrm>
          <a:prstGeom prst="rect">
            <a:avLst/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6510528"/>
            <a:ext cx="9784080" cy="1828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3B5C9"/>
                </a:solidFill>
                <a:latin typeface="Aptos"/>
              </a:defRPr>
            </a:pPr>
            <a:r>
              <a:t>SENTRY SWM-2  |  Acceptance &amp; regression testing  |  Evidence through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92240"/>
            <a:ext cx="41148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800"/>
              </a:spcAft>
              <a:defRPr sz="1000" b="1">
                <a:solidFill>
                  <a:srgbClr val="A3B5C9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08760"/>
            <a:ext cx="6720840" cy="434340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737360"/>
            <a:ext cx="621792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1">
                <a:solidFill>
                  <a:srgbClr val="2ED2BE"/>
                </a:solidFill>
                <a:latin typeface="Aptos"/>
              </a:defRPr>
            </a:pPr>
            <a:r>
              <a:t>BENCH CONNECTIONS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331720"/>
            <a:ext cx="2057400" cy="914400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2532888"/>
            <a:ext cx="1828800" cy="4754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ESP32-S3</a:t>
            </a:r>
          </a:p>
          <a:p>
            <a:pPr algn="ctr"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DUT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212848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48072" y="2386584"/>
            <a:ext cx="178308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EEF4FA"/>
                </a:solidFill>
                <a:latin typeface="Aptos"/>
              </a:defRPr>
            </a:pPr>
            <a:r>
              <a:t>PC  |  COM6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0" y="3291840"/>
            <a:ext cx="2011680" cy="658368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48072" y="3465576"/>
            <a:ext cx="178308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EEF4FA"/>
                </a:solidFill>
                <a:latin typeface="Aptos"/>
              </a:defRPr>
            </a:pPr>
            <a:r>
              <a:t>Wi-Fi / OTA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1560" y="4160520"/>
            <a:ext cx="2057400" cy="777240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70432" y="4361688"/>
            <a:ext cx="1828800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ctr">
              <a:spcAft>
                <a:spcPts val="800"/>
              </a:spcAft>
              <a:defRPr sz="1500" b="1">
                <a:solidFill>
                  <a:srgbClr val="EEF4FA"/>
                </a:solidFill>
                <a:latin typeface="Aptos"/>
              </a:defRPr>
            </a:pPr>
            <a:r>
              <a:t>Sensor / relay*</a:t>
            </a:r>
          </a:p>
        </p:txBody>
      </p:sp>
      <p:cxnSp>
        <p:nvCxnSpPr>
          <p:cNvPr id="18" name="Connector 17"/>
          <p:cNvCxnSpPr/>
          <p:nvPr/>
        </p:nvCxnSpPr>
        <p:spPr>
          <a:xfrm flipV="1">
            <a:off x="3108960" y="2542032"/>
            <a:ext cx="1920240" cy="155448"/>
          </a:xfrm>
          <a:prstGeom prst="line">
            <a:avLst/>
          </a:prstGeom>
          <a:ln w="25400">
            <a:solidFill>
              <a:srgbClr val="2ED2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108960" y="2852928"/>
            <a:ext cx="1920240" cy="758952"/>
          </a:xfrm>
          <a:prstGeom prst="line">
            <a:avLst/>
          </a:prstGeom>
          <a:ln w="25400">
            <a:solidFill>
              <a:srgbClr val="2ED2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2075688" y="3246120"/>
            <a:ext cx="0" cy="914400"/>
          </a:xfrm>
          <a:prstGeom prst="line">
            <a:avLst/>
          </a:prstGeom>
          <a:ln w="25400">
            <a:solidFill>
              <a:srgbClr val="2ED2B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51560" y="5230368"/>
            <a:ext cx="6126480" cy="36576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FFBF47"/>
                </a:solidFill>
                <a:latin typeface="Aptos"/>
              </a:defRPr>
            </a:pPr>
            <a:r>
              <a:t>* Relay click/LED, lamp, K1-K4 and 2 chords observed Oct 21; contact continuity and sonar accuracy not verified.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18120" y="1508760"/>
            <a:ext cx="3520440" cy="123444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982712" y="1709928"/>
            <a:ext cx="54864" cy="832104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65592" y="1673351"/>
            <a:ext cx="299008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Verified digitally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65592" y="2121408"/>
            <a:ext cx="2990088" cy="52120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A3B5C9"/>
                </a:solidFill>
                <a:latin typeface="Aptos"/>
              </a:defRPr>
            </a:pPr>
            <a:r>
              <a:t>UART commands, version/slot state, self-checks, Wi-Fi/OTA responses; lamp colors, relay click + LED, buttons K1-K3, K4 short, 2 chords.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18120" y="2907792"/>
            <a:ext cx="3520440" cy="123444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82712" y="3108960"/>
            <a:ext cx="54864" cy="832104"/>
          </a:xfrm>
          <a:prstGeom prst="rect">
            <a:avLst/>
          </a:prstGeom>
          <a:solidFill>
            <a:srgbClr val="FFB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165592" y="3072384"/>
            <a:ext cx="299008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Not verified physically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65592" y="3520440"/>
            <a:ext cx="2990088" cy="52120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A3B5C9"/>
                </a:solidFill>
                <a:latin typeface="Aptos"/>
              </a:defRPr>
            </a:pPr>
            <a:r>
              <a:t>Relay contacts under load, sonar accuracy vs controlled targets, K4 hold, VERBOSE/EMERGENCY chords.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18120" y="4306824"/>
            <a:ext cx="3520440" cy="123444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82712" y="4507992"/>
            <a:ext cx="54864" cy="832104"/>
          </a:xfrm>
          <a:prstGeom prst="rect">
            <a:avLst/>
          </a:prstGeom>
          <a:solidFill>
            <a:srgbClr val="FF6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65592" y="4471416"/>
            <a:ext cx="299008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Safety boundary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65592" y="4919472"/>
            <a:ext cx="2990088" cy="52120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300" b="0">
                <a:solidFill>
                  <a:srgbClr val="A3B5C9"/>
                </a:solidFill>
                <a:latin typeface="Aptos"/>
              </a:defRPr>
            </a:pPr>
            <a:r>
              <a:t>No mains or hazardous loads. Alarm/critical-alert tests deferred until relay wiring is verified safe.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09728" cy="438912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93192"/>
            <a:ext cx="1088136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ED2BE"/>
                </a:solidFill>
                <a:latin typeface="Aptos"/>
              </a:defRPr>
            </a:pPr>
            <a:r>
              <a:t>03 / OTA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694944"/>
            <a:ext cx="1088136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EEF4FA"/>
                </a:solidFill>
                <a:latin typeface="Aptos"/>
              </a:defRPr>
            </a:pPr>
            <a:r>
              <a:t>OTA failure modes rejected cleanly; recovery confirmed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55664"/>
            <a:ext cx="10927080" cy="10972"/>
          </a:xfrm>
          <a:prstGeom prst="rect">
            <a:avLst/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6510528"/>
            <a:ext cx="9784080" cy="1828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3B5C9"/>
                </a:solidFill>
                <a:latin typeface="Aptos"/>
              </a:defRPr>
            </a:pPr>
            <a:r>
              <a:t>SENTRY SWM-2  |  Acceptance &amp; regression testing  |  Evidence through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92240"/>
            <a:ext cx="41148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800"/>
              </a:spcAft>
              <a:defRPr sz="1000" b="1">
                <a:solidFill>
                  <a:srgbClr val="A3B5C9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645920"/>
            <a:ext cx="2606040" cy="1572768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14400" y="1810512"/>
            <a:ext cx="502920" cy="347472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856231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2267712" cy="3383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EF4FA"/>
                </a:solidFill>
                <a:latin typeface="Aptos"/>
              </a:defRPr>
            </a:pPr>
            <a:r>
              <a:t>2.1.0 to 2.3.0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51760"/>
            <a:ext cx="2267712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3B5C9"/>
                </a:solidFill>
                <a:latin typeface="Aptos"/>
              </a:defRPr>
            </a:pPr>
            <a:r>
              <a:t>Upgrade completed; self-check passed.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02736" y="1645920"/>
            <a:ext cx="2606040" cy="1572768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767328" y="1810512"/>
            <a:ext cx="502920" cy="347472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856231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67328" y="2240280"/>
            <a:ext cx="2267712" cy="3383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EF4FA"/>
                </a:solidFill>
                <a:latin typeface="Aptos"/>
              </a:defRPr>
            </a:pPr>
            <a:r>
              <a:t>Broken image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67328" y="2651760"/>
            <a:ext cx="2267712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3B5C9"/>
                </a:solidFill>
                <a:latin typeface="Aptos"/>
              </a:defRPr>
            </a:pPr>
            <a:r>
              <a:t>Self-check failed; automatic rollback observed.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55664" y="1645920"/>
            <a:ext cx="2606040" cy="1572768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620256" y="1810512"/>
            <a:ext cx="502920" cy="347472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65976" y="1856231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0256" y="2240280"/>
            <a:ext cx="2267712" cy="3383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EF4FA"/>
                </a:solidFill>
                <a:latin typeface="Aptos"/>
              </a:defRPr>
            </a:pPr>
            <a:r>
              <a:t>Restore fallback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0256" y="2651760"/>
            <a:ext cx="2267712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3B5C9"/>
                </a:solidFill>
                <a:latin typeface="Aptos"/>
              </a:defRPr>
            </a:pPr>
            <a:r>
              <a:t>2.1.0 force-installed to ota_0; self-check passed.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308592" y="1645920"/>
            <a:ext cx="2606040" cy="1572768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9473184" y="1810512"/>
            <a:ext cx="502920" cy="347472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18904" y="1856231"/>
            <a:ext cx="411480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73184" y="2240280"/>
            <a:ext cx="2267712" cy="3383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600" b="1">
                <a:solidFill>
                  <a:srgbClr val="EEF4FA"/>
                </a:solidFill>
                <a:latin typeface="Aptos"/>
              </a:defRPr>
            </a:pPr>
            <a:r>
              <a:t>Final slots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73184" y="2651760"/>
            <a:ext cx="2267712" cy="43891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3B5C9"/>
                </a:solidFill>
                <a:latin typeface="Aptos"/>
              </a:defRPr>
            </a:pPr>
            <a:r>
              <a:t>2.3.0 valid on ota_0; 2.1.0 last verified valid on ota_1 (manual rollback retest).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3611880"/>
            <a:ext cx="512064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VALIDATION / INPUT REJECTIONS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77240" y="3977639"/>
            <a:ext cx="5074920" cy="132588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41832" y="4178807"/>
            <a:ext cx="54864" cy="923544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24712" y="4142231"/>
            <a:ext cx="454456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Observed responses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4712" y="4590288"/>
            <a:ext cx="4544568" cy="612647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E408 downgrade guard  |  E414/E415 malformed/unavailable version  |  E418 unsupported URL scheme  |  E406/E412/E410 local fault matrix  |  E402/E404 server/channel errors.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3977639"/>
            <a:ext cx="5074920" cy="132588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36792" y="4178807"/>
            <a:ext cx="54864" cy="923544"/>
          </a:xfrm>
          <a:prstGeom prst="rect">
            <a:avLst/>
          </a:prstGeom>
          <a:solidFill>
            <a:srgbClr val="FFB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19672" y="4142231"/>
            <a:ext cx="454456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Completed (Oct 21)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9672" y="4590288"/>
            <a:ext cx="4544568" cy="612647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New account after device reset. Full local fault matrix (E406/E412/E410) run on BOTH 2.1.0 and 2.3.0, recovery confirmed each time. Custom-server persistence and server/channel errors confirmed. Slow transfer + Wi-Fi loss attempted but inconclusive (console blocked during OTA).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" y="5650992"/>
            <a:ext cx="10332720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FBF47"/>
                </a:solidFill>
                <a:latin typeface="Aptos"/>
              </a:defRPr>
            </a:pPr>
            <a:r>
              <a:t>Important: the broken image overwrote the inactive slot; stable fallback was subsequently reinstalled and verified.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09728" cy="438912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93192"/>
            <a:ext cx="1088136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ED2BE"/>
                </a:solidFill>
                <a:latin typeface="Aptos"/>
              </a:defRPr>
            </a:pPr>
            <a:r>
              <a:t>04 /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694944"/>
            <a:ext cx="1088136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EEF4FA"/>
                </a:solidFill>
                <a:latin typeface="Aptos"/>
              </a:defRPr>
            </a:pPr>
            <a:r>
              <a:t>Five boundary/behavior findings; three block beta promotion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55664"/>
            <a:ext cx="10927080" cy="10972"/>
          </a:xfrm>
          <a:prstGeom prst="rect">
            <a:avLst/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6510528"/>
            <a:ext cx="9784080" cy="1828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3B5C9"/>
                </a:solidFill>
                <a:latin typeface="Aptos"/>
              </a:defRPr>
            </a:pPr>
            <a:r>
              <a:t>SENTRY SWM-2  |  Acceptance &amp; regression testing  |  Evidence through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92240"/>
            <a:ext cx="41148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800"/>
              </a:spcAft>
              <a:defRPr sz="1000" b="1">
                <a:solidFill>
                  <a:srgbClr val="A3B5C9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600200"/>
            <a:ext cx="310896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3B5C9"/>
                </a:solidFill>
                <a:latin typeface="Aptos"/>
              </a:defRPr>
            </a:pPr>
            <a:r>
              <a:t>Finding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96512" y="1600200"/>
            <a:ext cx="192024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3B5C9"/>
                </a:solidFill>
                <a:latin typeface="Aptos"/>
              </a:defRPr>
            </a:pPr>
            <a:r>
              <a:t>PRD boundary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600200"/>
            <a:ext cx="141732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3B5C9"/>
                </a:solidFill>
                <a:latin typeface="Aptos"/>
              </a:defRPr>
            </a:pPr>
            <a:r>
              <a:t>2.1.0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0" y="1600200"/>
            <a:ext cx="141732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3B5C9"/>
                </a:solidFill>
                <a:latin typeface="Aptos"/>
              </a:defRPr>
            </a:pPr>
            <a:r>
              <a:t>2.3.0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89720" y="1600200"/>
            <a:ext cx="196596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3B5C9"/>
                </a:solidFill>
                <a:latin typeface="Aptos"/>
              </a:defRPr>
            </a:pPr>
            <a:r>
              <a:t>Assessment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2029968"/>
            <a:ext cx="10607040" cy="82296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212848"/>
            <a:ext cx="310896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EF4FA"/>
                </a:solidFill>
                <a:latin typeface="Aptos"/>
              </a:defRPr>
            </a:pPr>
            <a:r>
              <a:t>BUG-01  |  Distance count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6512" y="2212848"/>
            <a:ext cx="192024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1 to 20 inclusive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212848"/>
            <a:ext cx="141732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F676F"/>
                </a:solidFill>
                <a:latin typeface="Aptos"/>
              </a:defRPr>
            </a:pPr>
            <a:r>
              <a:t>20 rejected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12848"/>
            <a:ext cx="141732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F676F"/>
                </a:solidFill>
                <a:latin typeface="Aptos"/>
              </a:defRPr>
            </a:pPr>
            <a:r>
              <a:t>20 rejected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2212848"/>
            <a:ext cx="196596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F676F"/>
                </a:solidFill>
                <a:latin typeface="Aptos"/>
              </a:defRPr>
            </a:pPr>
            <a:r>
              <a:t>Existing defect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7240" y="3081528"/>
            <a:ext cx="10607040" cy="822960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264408"/>
            <a:ext cx="310896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EF4FA"/>
                </a:solidFill>
                <a:latin typeface="Aptos"/>
              </a:defRPr>
            </a:pPr>
            <a:r>
              <a:t>BUG-02  |  Relay pulse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6512" y="3264408"/>
            <a:ext cx="192024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100 to 10,000 ms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264408"/>
            <a:ext cx="141732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F676F"/>
                </a:solidFill>
                <a:latin typeface="Aptos"/>
              </a:defRPr>
            </a:pPr>
            <a:r>
              <a:t>99 accepted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3264408"/>
            <a:ext cx="141732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F676F"/>
                </a:solidFill>
                <a:latin typeface="Aptos"/>
              </a:defRPr>
            </a:pPr>
            <a:r>
              <a:t>99 accepted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89720" y="3264408"/>
            <a:ext cx="196596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F676F"/>
                </a:solidFill>
                <a:latin typeface="Aptos"/>
              </a:defRPr>
            </a:pPr>
            <a:r>
              <a:t>Existing defect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77240" y="4133087"/>
            <a:ext cx="10607040" cy="82296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4315968"/>
            <a:ext cx="310896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EEF4FA"/>
                </a:solidFill>
                <a:latin typeface="Aptos"/>
              </a:defRPr>
            </a:pPr>
            <a:r>
              <a:t>BUG-03  |  Health interval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96512" y="4315968"/>
            <a:ext cx="192024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10 to 300 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4315968"/>
            <a:ext cx="141732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FBF47"/>
                </a:solidFill>
                <a:latin typeface="Aptos"/>
              </a:defRPr>
            </a:pPr>
            <a:r>
              <a:t>300 rejected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4315968"/>
            <a:ext cx="141732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6EDC9B"/>
                </a:solidFill>
                <a:latin typeface="Aptos"/>
              </a:defRPr>
            </a:pPr>
            <a:r>
              <a:t>300 accepted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89720" y="4315968"/>
            <a:ext cx="1965960" cy="4114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FFBF47"/>
                </a:solidFill>
                <a:latin typeface="Aptos"/>
              </a:defRPr>
            </a:pPr>
            <a:r>
              <a:t>Stable only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2960" y="5440680"/>
            <a:ext cx="10469880" cy="640080"/>
          </a:xfrm>
          <a:prstGeom prst="roundRect">
            <a:avLst>
              <a:gd name="adj" fmla="val 12000"/>
            </a:avLst>
          </a:prstGeom>
          <a:solidFill>
            <a:srgbClr val="4322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24128" y="5605272"/>
            <a:ext cx="10058400" cy="29260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FF676F"/>
                </a:solidFill>
                <a:latin typeface="Aptos"/>
              </a:defRPr>
            </a:pPr>
            <a:r>
              <a:t>BUG-01, BUG-02 and BUG-04 violate PRD limits on both versions; BUG-03 and BUG-05 are stable-only (BUG-05 cosmetic); BUG-06 (2.3.0 Guard): wrong-PIN counter never resets, so one typo can raise ALARM. See BUG_REPORTS.md.  BUG-07 (both versions, low): documented `distance calibrate reset` returns E706; `distance reset` works.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09728" cy="438912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93192"/>
            <a:ext cx="1088136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ED2BE"/>
                </a:solidFill>
                <a:latin typeface="Aptos"/>
              </a:defRPr>
            </a:pPr>
            <a:r>
              <a:t>05 / INTERPRETATION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694944"/>
            <a:ext cx="1088136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EEF4FA"/>
                </a:solidFill>
                <a:latin typeface="Aptos"/>
              </a:defRPr>
            </a:pPr>
            <a:r>
              <a:t>Separate confirmed defects from open investigations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55664"/>
            <a:ext cx="10927080" cy="10972"/>
          </a:xfrm>
          <a:prstGeom prst="rect">
            <a:avLst/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6510528"/>
            <a:ext cx="9784080" cy="1828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3B5C9"/>
                </a:solidFill>
                <a:latin typeface="Aptos"/>
              </a:defRPr>
            </a:pPr>
            <a:r>
              <a:t>SENTRY SWM-2  |  Acceptance &amp; regression testing  |  Evidence through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92240"/>
            <a:ext cx="41148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800"/>
              </a:spcAft>
              <a:defRPr sz="1000" b="1">
                <a:solidFill>
                  <a:srgbClr val="A3B5C9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600200"/>
            <a:ext cx="3429000" cy="164592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41832" y="1801368"/>
            <a:ext cx="54864" cy="1243584"/>
          </a:xfrm>
          <a:prstGeom prst="rect">
            <a:avLst/>
          </a:prstGeom>
          <a:solidFill>
            <a:srgbClr val="FF6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24712" y="1764792"/>
            <a:ext cx="289864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Confirmed boundary defects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24712" y="2212848"/>
            <a:ext cx="2898648" cy="9326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BUG-01, BUG-02 and BUG-04 reproduce on both versions. BUG-03 is stable-only; BUG-05 cosmetic stable-only. BUG-06: Guard wrong-PIN attempts never reset on 2.3.0 (false-alarm risk). BUG-07: calibrate reset rejected on both versions (low).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600200"/>
            <a:ext cx="3429000" cy="164592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53712" y="1801368"/>
            <a:ext cx="54864" cy="1243584"/>
          </a:xfrm>
          <a:prstGeom prst="rect">
            <a:avLst/>
          </a:prstGeom>
          <a:solidFill>
            <a:srgbClr val="FFBF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64792"/>
            <a:ext cx="289864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Intermittent NTP warning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212848"/>
            <a:ext cx="2898648" cy="9326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W106 followed saved-network reconnect in 2/2 observations per version/network; later reconnects synced. Investigate; not a confirmed defect.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1600200"/>
            <a:ext cx="3429000" cy="164592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801368"/>
            <a:ext cx="54864" cy="1243584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48472" y="1764792"/>
            <a:ext cx="2898648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700" b="1">
                <a:solidFill>
                  <a:srgbClr val="EEF4FA"/>
                </a:solidFill>
                <a:latin typeface="Aptos"/>
              </a:defRPr>
            </a:pPr>
            <a:r>
              <a:t>Release risk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2212848"/>
            <a:ext cx="2898648" cy="93268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A3B5C9"/>
                </a:solidFill>
                <a:latin typeface="Aptos"/>
              </a:defRPr>
            </a:pPr>
            <a:r>
              <a:t>Guard tamper, K4 hold and 10 s reminders were tested (BUG-06 found); contact continuity under load is unverified.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794760"/>
            <a:ext cx="9966960" cy="32004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EVIDENCE LIMITS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187952"/>
            <a:ext cx="3383280" cy="123444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87552" y="4343400"/>
            <a:ext cx="301752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EF4FA"/>
                </a:solidFill>
                <a:latin typeface="Aptos"/>
              </a:defRPr>
            </a:pPr>
            <a:r>
              <a:t>Physical behavior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" y="4690872"/>
            <a:ext cx="301752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3B5C9"/>
                </a:solidFill>
                <a:latin typeface="Aptos"/>
              </a:defRPr>
            </a:pPr>
            <a:r>
              <a:t>Lamp, relay click, GPIO4 proximity LED and buttons observed on the bench; sonar checked at 10-50 cm; contact load not verified.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07992" y="4187952"/>
            <a:ext cx="3383280" cy="123444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72584" y="4343400"/>
            <a:ext cx="301752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EF4FA"/>
                </a:solidFill>
                <a:latin typeface="Aptos"/>
              </a:defRPr>
            </a:pPr>
            <a:r>
              <a:t>Scope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72584" y="4690872"/>
            <a:ext cx="301752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3B5C9"/>
                </a:solidFill>
                <a:latin typeface="Aptos"/>
              </a:defRPr>
            </a:pPr>
            <a:r>
              <a:t>Hidden-command/security exploration WAS performed (Oct 21, authorized): a leaked debug sudo password and a hidden selftest command were found and disclosed; this remains a limited exploration, not a full security audit.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3024" y="4187952"/>
            <a:ext cx="3383280" cy="1234440"/>
          </a:xfrm>
          <a:prstGeom prst="roundRect">
            <a:avLst>
              <a:gd name="adj" fmla="val 12000"/>
            </a:avLst>
          </a:prstGeom>
          <a:solidFill>
            <a:srgbClr val="1727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57616" y="4343400"/>
            <a:ext cx="3017520" cy="2743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500" b="1">
                <a:solidFill>
                  <a:srgbClr val="EEF4FA"/>
                </a:solidFill>
                <a:latin typeface="Aptos"/>
              </a:defRPr>
            </a:pPr>
            <a:r>
              <a:t>Coverage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6" y="4690872"/>
            <a:ext cx="301752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0">
                <a:solidFill>
                  <a:srgbClr val="A3B5C9"/>
                </a:solidFill>
                <a:latin typeface="Aptos"/>
              </a:defRPr>
            </a:pPr>
            <a:r>
              <a:t>101 execution rows are not total coverage; Guard arm/alarm/PIN/alert cases now have results.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8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38912"/>
            <a:ext cx="109728" cy="438912"/>
          </a:xfrm>
          <a:prstGeom prst="rect">
            <a:avLst/>
          </a:prstGeom>
          <a:solidFill>
            <a:srgbClr val="2ED2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93192"/>
            <a:ext cx="10881360" cy="219456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000" b="1">
                <a:solidFill>
                  <a:srgbClr val="2ED2BE"/>
                </a:solidFill>
                <a:latin typeface="Aptos"/>
              </a:defRPr>
            </a:pPr>
            <a:r>
              <a:t>06 /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694944"/>
            <a:ext cx="10881360" cy="56692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2800" b="1">
                <a:solidFill>
                  <a:srgbClr val="EEF4FA"/>
                </a:solidFill>
                <a:latin typeface="Aptos"/>
              </a:defRPr>
            </a:pPr>
            <a:r>
              <a:t>Decision: do not promote 2.3.0 to stable yet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6455664"/>
            <a:ext cx="10927080" cy="10972"/>
          </a:xfrm>
          <a:prstGeom prst="rect">
            <a:avLst/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6510528"/>
            <a:ext cx="9784080" cy="1828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900" b="0">
                <a:solidFill>
                  <a:srgbClr val="A3B5C9"/>
                </a:solidFill>
                <a:latin typeface="Aptos"/>
              </a:defRPr>
            </a:pPr>
            <a:r>
              <a:t>SENTRY SWM-2  |  Acceptance &amp; regression testing  |  Evidence through 21 Oct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91088" y="6492240"/>
            <a:ext cx="411480" cy="20116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 algn="r">
              <a:spcAft>
                <a:spcPts val="800"/>
              </a:spcAft>
              <a:defRPr sz="1000" b="1">
                <a:solidFill>
                  <a:srgbClr val="A3B5C9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1536192"/>
            <a:ext cx="3749039" cy="3611880"/>
          </a:xfrm>
          <a:prstGeom prst="roundRect">
            <a:avLst>
              <a:gd name="adj" fmla="val 12000"/>
            </a:avLst>
          </a:prstGeom>
          <a:solidFill>
            <a:srgbClr val="3E21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1828800"/>
            <a:ext cx="3246120" cy="329184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FF676F"/>
                </a:solidFill>
                <a:latin typeface="Aptos"/>
              </a:defRPr>
            </a:pPr>
            <a:r>
              <a:t>RECOMMENDATION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331720"/>
            <a:ext cx="3246120" cy="91440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3400" b="1">
                <a:solidFill>
                  <a:srgbClr val="EEF4FA"/>
                </a:solidFill>
                <a:latin typeface="Aptos"/>
              </a:defRPr>
            </a:pPr>
            <a:r>
              <a:t>NO-GO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3429000"/>
            <a:ext cx="3246120" cy="109728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600" b="0">
                <a:solidFill>
                  <a:srgbClr val="A3B5C9"/>
                </a:solidFill>
                <a:latin typeface="Aptos"/>
              </a:defRPr>
            </a:pPr>
            <a:r>
              <a:t>Resolve BUG-01 / BUG-02 / BUG-04, retest the PRD boundaries, and assess remaining physical/Guard risk-based coverage before reconsidering release.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83480" y="1719072"/>
            <a:ext cx="5943600" cy="347472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300" b="1">
                <a:solidFill>
                  <a:srgbClr val="2ED2BE"/>
                </a:solidFill>
                <a:latin typeface="Aptos"/>
              </a:defRPr>
            </a:pPr>
            <a:r>
              <a:t>NEXT EVIDENCE TO COLLECT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10912" y="2240280"/>
            <a:ext cx="438912" cy="347472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56632" y="2286000"/>
            <a:ext cx="347472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96128" y="2249424"/>
            <a:ext cx="5486400" cy="5029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EEF4FA"/>
                </a:solidFill>
                <a:latin typeface="Aptos"/>
              </a:defRPr>
            </a:pPr>
            <a:r>
              <a:t>Fix and regression-test distance 20, relay pulse boundaries and relay cycle counter (BUG-04) on both versions.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10912" y="2990088"/>
            <a:ext cx="438912" cy="347472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56632" y="3035808"/>
            <a:ext cx="347472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2999232"/>
            <a:ext cx="5486400" cy="5029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EEF4FA"/>
                </a:solidFill>
                <a:latin typeface="Aptos"/>
              </a:defRPr>
            </a:pPr>
            <a:r>
              <a:t>Local-OTA fault injection is complete on both versions; slow transfer + Wi-Fi loss remains inconclusive.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10912" y="3739896"/>
            <a:ext cx="438912" cy="347472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56632" y="3785615"/>
            <a:ext cx="347472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96128" y="3749039"/>
            <a:ext cx="5486400" cy="5029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EEF4FA"/>
                </a:solidFill>
                <a:latin typeface="Aptos"/>
              </a:defRPr>
            </a:pPr>
            <a:r>
              <a:t>Verify sensor/relay hardware at low voltage; only then plan physical/Guard checks.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10912" y="4489704"/>
            <a:ext cx="438912" cy="347472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56632" y="4535424"/>
            <a:ext cx="347472" cy="228600"/>
          </a:xfrm>
          <a:prstGeom prst="rect">
            <a:avLst/>
          </a:prstGeom>
          <a:noFill/>
        </p:spPr>
        <p:txBody>
          <a:bodyPr wrap="square" lIns="18288" rIns="18288" tIns="18288" bIns="18288">
            <a:spAutoFit/>
          </a:bodyPr>
          <a:lstStyle/>
          <a:p>
            <a:pPr algn="ctr">
              <a:spcAft>
                <a:spcPts val="800"/>
              </a:spcAft>
              <a:defRPr sz="1200" b="1">
                <a:solidFill>
                  <a:srgbClr val="2ED2BE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96128" y="4498848"/>
            <a:ext cx="5486400" cy="502920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400" b="0">
                <a:solidFill>
                  <a:srgbClr val="EEF4FA"/>
                </a:solidFill>
                <a:latin typeface="Aptos"/>
              </a:defRPr>
            </a:pPr>
            <a:r>
              <a:t>Freeze remaining physical/Guard cases as Pass / Fail / Not run with evidence; rebuild report and package.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983480" y="5440680"/>
            <a:ext cx="6263640" cy="566928"/>
          </a:xfrm>
          <a:prstGeom prst="roundRect">
            <a:avLst>
              <a:gd name="adj" fmla="val 12000"/>
            </a:avLst>
          </a:prstGeom>
          <a:solidFill>
            <a:srgbClr val="1D31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6360" y="5559552"/>
            <a:ext cx="5852160" cy="292608"/>
          </a:xfrm>
          <a:prstGeom prst="rect">
            <a:avLst/>
          </a:prstGeom>
          <a:noFill/>
        </p:spPr>
        <p:txBody>
          <a:bodyPr wrap="square" lIns="73152" rIns="73152" tIns="73152" bIns="73152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A3B5C9"/>
                </a:solidFill>
                <a:latin typeface="Aptos"/>
              </a:defRPr>
            </a:pPr>
            <a:r>
              <a:t>Evidence: REPORT.md  |  BUG_REPORTS.md  |  logs/  |  TEST_CASES.md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SENTRY SWM-2 Firmware Acceptance and Regression Testing</dc:title>
  <dc:subject>HW-17 project defense; evidence through 20 October 2026</dc:subject>
  <dc:creator>SENTRY SWM-2 QA project</dc:creator>
  <cp:keywords>SENTRY, firmware, acceptance testing, regression, OTA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