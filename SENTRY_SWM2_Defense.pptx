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day. My project is acceptance and regression testing of the SENTRY SWM-2 firmware, a sonar watch module running on an ESP32-S3, connected over UART on COM6.</a:t>
            </a:r>
          </a:p>
          <a:p/>
          <a:p>
            <a:r>
              <a:t>The question I had to answer is simple: **is firmware 2.3.0 beta ready to replace 2.1.0 stable?** To answer it I tested both versions on the same real board, against the same requirements document, and compared the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starts from the PRD. I built a traceability matrix from the requirements to 67 defined test cases, so every test can be traced back to a requirement.</a:t>
            </a:r>
          </a:p>
          <a:p/>
          <a:p>
            <a:r>
              <a:t>I ran acceptance and regression tests on both versions: normal behaviour, boundary values, invalid input, persistence after reboot, and OTA failures.</a:t>
            </a:r>
          </a:p>
          <a:p/>
          <a:p>
            <a:r>
              <a:t>By the end I had **101 recorded result rows across 64 distinct case IDs**: 40 Pass, 47 Partial, 11 Fail, 2 Investigate and 1 Not run. I want to be honest about what this means: these are execution records, **not** a percentage of total planned coverage. Partial means it passed within a limited scope, not a full pass.</a:t>
            </a:r>
          </a:p>
          <a:p/>
          <a:p>
            <a:r>
              <a:t>The testing found seven bugs, and I will show the most important 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[Show the bench photo or diagram; if you want, play 15–20 s of the LED video here.]</a:t>
            </a:r>
          </a:p>
          <a:p/>
          <a:p>
            <a:r>
              <a:t>This is the bench. An ESP32-S3 board connected over UART at 115200 baud, a Wi-Fi network with a local OTA server, an ultrasonic sonar, a relay module on GPIO8, an RGB lamp on GPIO48, four buttons on GPIO41, 40, 39 and 38, and a proximity LED on GPIO4.</a:t>
            </a:r>
          </a:p>
          <a:p/>
          <a:p>
            <a:r>
              <a:t>Safety came first. The relay was only used at low voltage with no load, and I did not use mains or hazardous loads. I also automated the command side with a small Python helper that logs in, sends commands and captures the output, while a human was needed for physical observation: LED colours, the relay click, button presses and placing the sonar target with a ruler.</a:t>
            </a:r>
          </a:p>
          <a:p/>
          <a:p>
            <a:r>
              <a:t>Physical observations remain manual. The new assertion-based tests are shown on slide 7. All logs were sanitised.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OTA is the riskiest part of a firmware release, so I tested it deeply.</a:t>
            </a:r>
          </a:p>
          <a:p/>
          <a:p>
            <a:r>
              <a:t>Upgrade from 2.1.0 to 2.3.0 worked and passed the self-check. A deliberately broken image failed the self-check and the device rolled back automatically. Manual rollback worked in both directions, and I used it again to switch versions safely for the final repeat tests.</a:t>
            </a:r>
          </a:p>
          <a:p/>
          <a:p>
            <a:r>
              <a:t>I also ran a local-server fault matrix on **both** versions: garbage, truncated, corrupted and interrupted images. They were all rejected cleanly, with no corruption, and the device recovered each time. Downgrade protection (E408) and error codes for a bad URL or version also worked.</a:t>
            </a:r>
          </a:p>
          <a:p/>
          <a:p>
            <a:r>
              <a:t>One thing I could not prove: Wi-Fi loss in the middle of a transfer. UART is blocked during OTA, so that case stays inconclusive, and I list it as a limitation.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Next, the features: login and states, sonar, relay, lamp, health reports, and in 2.3.0 the new Guard and Alert Center.</a:t>
            </a:r>
          </a:p>
          <a:p/>
          <a:p>
            <a:r>
              <a:t>I ran a full account and password boundary matrix and a 136-expectation functional regression suite on both versions.</a:t>
            </a:r>
          </a:p>
          <a:p/>
          <a:p>
            <a:r>
              <a:t>On the hardware, I physically confirmed the RGB colours, the relay click, all four buttons and every state chord, including EMERGENCY, where buttons are blocked and the only exit is a reboot.</a:t>
            </a:r>
          </a:p>
          <a:p/>
          <a:p>
            <a:r>
              <a:t>Guard worked end to end: arming with a countdown, intrusion, a 15-second disarm window and then ALARM. ALARM opens the relay and raises a CRITICAL alert. I also tested the K4-hold PANIC, sensor tamper, and alert retention capped at 20.</a:t>
            </a:r>
          </a:p>
          <a:p/>
          <a:p>
            <a:r>
              <a:t>On 2.1.0 these Guard and Alert commands correctly report that they are planned for 2.3.0.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[This is the most important slide; slow down.]</a:t>
            </a:r>
          </a:p>
          <a:p/>
          <a:p>
            <a:r>
              <a:t>Seven bugs. The key point is that most are **not** beta regressions.</a:t>
            </a:r>
          </a:p>
          <a:p/>
          <a:p>
            <a:r>
              <a:t>- **BUG-01:** `distance 20` is rejected, although the PRD range is 1 to 20. Both versions.</a:t>
            </a:r>
          </a:p>
          <a:p>
            <a:r>
              <a:t>- **BUG-02:** `relay pulse` accepts values below the PRD minimum of 100 ms. Both versions.</a:t>
            </a:r>
          </a:p>
          <a:p>
            <a:r>
              <a:t>- **BUG-04:** the relay cycle counter miscounts. On 2.1.0 every switch adds two; on 2.3.0 the last increment is lost across a reboot.</a:t>
            </a:r>
          </a:p>
          <a:p>
            <a:r>
              <a:t>- **BUG-03:** a health interval of 300 seconds is rejected on 2.1.0 but accepted on 2.3.0. This is stable-only, so 2.3.0 actually fixes it.</a:t>
            </a:r>
          </a:p>
          <a:p>
            <a:r>
              <a:t>- **BUG-05:** a cosmetic one on 2.1.0: the lamp timer message says "ms" but the timing is in seconds.</a:t>
            </a:r>
          </a:p>
          <a:p>
            <a:r>
              <a:t>- **BUG-06:** new in 2.3.0 Guard. The wrong-PIN counter never resets. After three wrong PINs over the device's lifetime since boot, a single typo raises ALARM. A reboot clears it.</a:t>
            </a:r>
          </a:p>
          <a:p>
            <a:r>
              <a:t>- **BUG-07:** the documented command `distance calibrate reset` returns an error on both versions. The undocumented `distance reset` works.</a:t>
            </a:r>
          </a:p>
          <a:p/>
          <a:p>
            <a:r>
              <a:t>As a bonus, during authorised security exploration I found a leaked debug sudo password and a hidden selftest command. I reported them responsibly and redacted them everywhere in my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make recurring failures easy to retest, I delivered a small Python unittest</a:t>
            </a:r>
          </a:p>
          <a:p>
            <a:r>
              <a:t>suite that communicates with the actual board over UART. It contains four</a:t>
            </a:r>
          </a:p>
          <a:p>
            <a:r>
              <a:t>tests with automatic assertions against the PRD, including valid boundaries</a:t>
            </a:r>
          </a:p>
          <a:p>
            <a:r>
              <a:t>and neighbouring invalid inputs.</a:t>
            </a:r>
          </a:p>
          <a:p/>
          <a:p>
            <a:r>
              <a:t>On firmware 2.3.0, the live run produced one passing test and three failing</a:t>
            </a:r>
          </a:p>
          <a:p>
            <a:r>
              <a:t>tests, with no setup or cleanup errors. Distance count 20, the 99-millisecond</a:t>
            </a:r>
          </a:p>
          <a:p>
            <a:r>
              <a:t>relay pulse and the documented calibration-reset command reproduced BUG-01,</a:t>
            </a:r>
          </a:p>
          <a:p>
            <a:r>
              <a:t>BUG-02 and BUG-07. The health interval test passed: 300 seconds was accepted</a:t>
            </a:r>
          </a:p>
          <a:p>
            <a:r>
              <a:t>and 301 rejected.</a:t>
            </a:r>
          </a:p>
          <a:p/>
          <a:p>
            <a:r>
              <a:t>These red results are evidence of firmware defects, not a broken runner.</a:t>
            </a:r>
          </a:p>
          <a:p>
            <a:r>
              <a:t>The runner records sanitised UART transcripts, assertion results and a JSON</a:t>
            </a:r>
          </a:p>
          <a:p>
            <a:r>
              <a:t>summary. It closes the relay and restores the original health interval.</a:t>
            </a:r>
          </a:p>
          <a:p>
            <a:r>
              <a:t>Seven offline tests also passed to validate the runner itself.</a:t>
            </a:r>
          </a:p>
          <a:p/>
          <a:p>
            <a:r>
              <a:t>The new suite was hardware-validated on 2.3.0 only. It does not claim physical</a:t>
            </a:r>
          </a:p>
          <a:p>
            <a:r>
              <a:t>relay-contact verification or sonar accuracy, and the reset test checks syntax</a:t>
            </a:r>
          </a:p>
          <a:p>
            <a:r>
              <a:t>from an initially zero offset. These four tests supplement, rather than replace,</a:t>
            </a:r>
          </a:p>
          <a:p>
            <a:r>
              <a:t>the earlier 101 execution 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My recommendation is **NO-GO for promoting 2.3.0 to stable at this time.**</a:t>
            </a:r>
          </a:p>
          <a:p/>
          <a:p>
            <a:r>
              <a:t>BUG-01, BUG-02 and BUG-04 violate PRD limits on both versions, and BUG-06 adds a real false-alarm risk in the new Guard feature. This is a recommendation about this specific build, not a claim that 2.3.0 is generally worse than 2.1.0. Retest after fixes.</a:t>
            </a:r>
          </a:p>
          <a:p/>
          <a:p>
            <a:r>
              <a:t>Gaps remain, and I state them openly: the calibrate boundaries of 5 and 300 cm were not run, relay contact behaviour under real load was not measured, and Wi-Fi loss during OTA is inconclusive.</a:t>
            </a:r>
          </a:p>
          <a:p/>
          <a:p>
            <a:r>
              <a:t>Lessons: test against the requirements, not against assumptions; run the same boundaries on every version, because that is how you separate old defects from regressions; and keep evidence sanitised and reproducible. I corrected one of my own early mistakes along the way, a calibrate-reset result I had first misread, which is why re-checking matters.</a:t>
            </a:r>
          </a:p>
          <a:p/>
          <a:p>
            <a:r>
              <a:t>Thank you. I am ready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75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1400" b="1">
                <a:solidFill>
                  <a:srgbClr val="075985"/>
                </a:solidFill>
                <a:latin typeface="Arial"/>
              </a:rPr>
              <a:t>01 / FIRMWARE ACCEPTANCE AND REGRESSION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1155680" cy="7315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3200" b="1">
                <a:solidFill>
                  <a:srgbClr val="10243A"/>
                </a:solidFill>
                <a:latin typeface="Arial"/>
              </a:rPr>
              <a:t>SENTRY SWM-2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6070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1100" b="0">
                <a:solidFill>
                  <a:srgbClr val="10243A"/>
                </a:solidFill>
                <a:latin typeface="Arial"/>
              </a:rPr>
              <a:t>SENTRY SWM-2 | Zolotykh | Defense: 23 Oct 2026 | Evidence: 19-23 Oct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19088"/>
            <a:ext cx="54864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1400" b="1">
                <a:solidFill>
                  <a:srgbClr val="075985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1097280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3000" b="1">
                <a:solidFill>
                  <a:srgbClr val="10243A"/>
                </a:solidFill>
                <a:latin typeface="Arial"/>
              </a:rPr>
              <a:t>Stable 2.1.0 versus beta 2.3.0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743200"/>
            <a:ext cx="10972800" cy="7315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2600" b="0">
                <a:solidFill>
                  <a:srgbClr val="10243A"/>
                </a:solidFill>
                <a:latin typeface="Arial"/>
              </a:rPr>
              <a:t>Is the beta ready to become the stable release?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886200"/>
            <a:ext cx="10972800" cy="7315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3000" b="1">
                <a:solidFill>
                  <a:srgbClr val="991B1B"/>
                </a:solidFill>
                <a:latin typeface="Arial"/>
              </a:rPr>
              <a:t>RELEASE RECOMMENDATION: NO-GO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983480"/>
            <a:ext cx="1097280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2300" b="0">
                <a:solidFill>
                  <a:srgbClr val="10243A"/>
                </a:solidFill>
                <a:latin typeface="Arial"/>
              </a:rPr>
              <a:t>Real ESP32-S3 bench + PRD traceability + reproducible evidence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75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1400" b="1">
                <a:solidFill>
                  <a:srgbClr val="075985"/>
                </a:solidFill>
                <a:latin typeface="Arial"/>
              </a:rPr>
              <a:t>02 /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1155680" cy="7315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3200" b="1">
                <a:solidFill>
                  <a:srgbClr val="10243A"/>
                </a:solidFill>
                <a:latin typeface="Arial"/>
              </a:rPr>
              <a:t>Requirements, strategy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6070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1100" b="0">
                <a:solidFill>
                  <a:srgbClr val="10243A"/>
                </a:solidFill>
                <a:latin typeface="Arial"/>
              </a:rPr>
              <a:t>SENTRY SWM-2 | Zolotykh | Defense: 23 Oct 2026 | Evidence: 19-23 Oct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19088"/>
            <a:ext cx="54864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1400" b="1">
                <a:solidFill>
                  <a:srgbClr val="075985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27432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2300" b="1">
                <a:solidFill>
                  <a:srgbClr val="075985"/>
                </a:solidFill>
                <a:latin typeface="Arial"/>
              </a:rPr>
              <a:t>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10607040" cy="7040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2300" b="0">
                <a:solidFill>
                  <a:srgbClr val="10243A"/>
                </a:solidFill>
                <a:latin typeface="Arial"/>
              </a:rPr>
              <a:t>PRD -&gt; traceability matrix -&gt; 67 defined test cases.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596896"/>
            <a:ext cx="27432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2300" b="1">
                <a:solidFill>
                  <a:srgbClr val="075985"/>
                </a:solidFill>
                <a:latin typeface="Arial"/>
              </a:rPr>
              <a:t>-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96896"/>
            <a:ext cx="10607040" cy="7040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2300" b="0">
                <a:solidFill>
                  <a:srgbClr val="10243A"/>
                </a:solidFill>
                <a:latin typeface="Arial"/>
              </a:rPr>
              <a:t>Both versions: normal, boundary, invalid-input, persistence and OTA checks.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364991"/>
            <a:ext cx="27432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2300" b="1">
                <a:solidFill>
                  <a:srgbClr val="075985"/>
                </a:solidFill>
                <a:latin typeface="Arial"/>
              </a:rPr>
              <a:t>-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364991"/>
            <a:ext cx="10607040" cy="7040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2300" b="0">
                <a:solidFill>
                  <a:srgbClr val="10243A"/>
                </a:solidFill>
                <a:latin typeface="Arial"/>
              </a:rPr>
              <a:t>101 recorded rows across 64 case IDs; not a coverage percentage.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133087"/>
            <a:ext cx="27432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2300" b="1">
                <a:solidFill>
                  <a:srgbClr val="075985"/>
                </a:solidFill>
                <a:latin typeface="Arial"/>
              </a:rPr>
              <a:t>-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133087"/>
            <a:ext cx="10607040" cy="7040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2300" b="0">
                <a:solidFill>
                  <a:srgbClr val="10243A"/>
                </a:solidFill>
                <a:latin typeface="Arial"/>
              </a:rPr>
              <a:t>40 Pass | 47 Partial | 11 Fail | 2 Investigate | 1 Not run.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01183"/>
            <a:ext cx="27432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2300" b="1">
                <a:solidFill>
                  <a:srgbClr val="075985"/>
                </a:solidFill>
                <a:latin typeface="Arial"/>
              </a:rPr>
              <a:t>-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901183"/>
            <a:ext cx="10607040" cy="7040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2300" b="0">
                <a:solidFill>
                  <a:srgbClr val="10243A"/>
                </a:solidFill>
                <a:latin typeface="Arial"/>
              </a:rPr>
              <a:t>Separate Oct 23 supplement: 4 automated tests on real firmware 2.3.0.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75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1400" b="1">
                <a:solidFill>
                  <a:srgbClr val="075985"/>
                </a:solidFill>
                <a:latin typeface="Arial"/>
              </a:rPr>
              <a:t>03 / BENCH AND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1155680" cy="7315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3200" b="1">
                <a:solidFill>
                  <a:srgbClr val="10243A"/>
                </a:solidFill>
                <a:latin typeface="Arial"/>
              </a:rPr>
              <a:t>Real hardware, manual observations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6070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1100" b="0">
                <a:solidFill>
                  <a:srgbClr val="10243A"/>
                </a:solidFill>
                <a:latin typeface="Arial"/>
              </a:rPr>
              <a:t>SENTRY SWM-2 | Zolotykh | Defense: 23 Oct 2026 | Evidence: 19-23 Oct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19088"/>
            <a:ext cx="54864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1400" b="1">
                <a:solidFill>
                  <a:srgbClr val="075985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27432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075985"/>
                </a:solidFill>
                <a:latin typeface="Arial"/>
              </a:rPr>
              <a:t>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10607040" cy="603503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2200" b="0">
                <a:solidFill>
                  <a:srgbClr val="10243A"/>
                </a:solidFill>
                <a:latin typeface="Arial"/>
              </a:rPr>
              <a:t>PC -&gt; USB/UART COM6, 115200 8N1 -&gt; ESP32-S3.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96312"/>
            <a:ext cx="27432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075985"/>
                </a:solidFill>
                <a:latin typeface="Arial"/>
              </a:rPr>
              <a:t>-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96312"/>
            <a:ext cx="10607040" cy="603503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2200" b="0">
                <a:solidFill>
                  <a:srgbClr val="10243A"/>
                </a:solidFill>
                <a:latin typeface="Arial"/>
              </a:rPr>
              <a:t>Sonar GPIO5/18 | relay GPIO8 | RGB GPIO48 | proximity LED GPIO4.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163824"/>
            <a:ext cx="27432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075985"/>
                </a:solidFill>
                <a:latin typeface="Arial"/>
              </a:rPr>
              <a:t>-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163824"/>
            <a:ext cx="10607040" cy="603503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2200" b="0">
                <a:solidFill>
                  <a:srgbClr val="10243A"/>
                </a:solidFill>
                <a:latin typeface="Arial"/>
              </a:rPr>
              <a:t>Buttons GPIO41/40/39/38; Wi-Fi and a local OTA fault server.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831335"/>
            <a:ext cx="27432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075985"/>
                </a:solidFill>
                <a:latin typeface="Arial"/>
              </a:rPr>
              <a:t>-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831335"/>
            <a:ext cx="10607040" cy="603503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2200" b="0">
                <a:solidFill>
                  <a:srgbClr val="10243A"/>
                </a:solidFill>
                <a:latin typeface="Arial"/>
              </a:rPr>
              <a:t>Observed: RGB colours, relay clicks, all state chords and Guard alarms.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498848"/>
            <a:ext cx="27432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075985"/>
                </a:solidFill>
                <a:latin typeface="Arial"/>
              </a:rPr>
              <a:t>-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98848"/>
            <a:ext cx="10607040" cy="603503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2200" b="0">
                <a:solidFill>
                  <a:srgbClr val="10243A"/>
                </a:solidFill>
                <a:latin typeface="Arial"/>
              </a:rPr>
              <a:t>Ruler targets at 10/20/30/50 cm; 20 cm calibration checked on both builds.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166360"/>
            <a:ext cx="27432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075985"/>
                </a:solidFill>
                <a:latin typeface="Arial"/>
              </a:rPr>
              <a:t>-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166360"/>
            <a:ext cx="10607040" cy="603503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2200" b="0">
                <a:solidFill>
                  <a:srgbClr val="10243A"/>
                </a:solidFill>
                <a:latin typeface="Arial"/>
              </a:rPr>
              <a:t>Low voltage, relay unloaded: no mains, no contact/load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75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1400" b="1">
                <a:solidFill>
                  <a:srgbClr val="075985"/>
                </a:solidFill>
                <a:latin typeface="Arial"/>
              </a:rPr>
              <a:t>04 / FIRMWARE UPDATE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1155680" cy="7315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3200" b="1">
                <a:solidFill>
                  <a:srgbClr val="10243A"/>
                </a:solidFill>
                <a:latin typeface="Arial"/>
              </a:rPr>
              <a:t>OTA recovery and version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6070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1100" b="0">
                <a:solidFill>
                  <a:srgbClr val="10243A"/>
                </a:solidFill>
                <a:latin typeface="Arial"/>
              </a:rPr>
              <a:t>SENTRY SWM-2 | Zolotykh | Defense: 23 Oct 2026 | Evidence: 19-23 Oct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19088"/>
            <a:ext cx="54864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1400" b="1">
                <a:solidFill>
                  <a:srgbClr val="075985"/>
                </a:solidFill>
                <a:latin typeface="Arial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27432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075985"/>
                </a:solidFill>
                <a:latin typeface="Arial"/>
              </a:rPr>
              <a:t>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10607040" cy="603503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2200" b="0">
                <a:solidFill>
                  <a:srgbClr val="10243A"/>
                </a:solidFill>
                <a:latin typeface="Arial"/>
              </a:rPr>
              <a:t>Upgrade 2.1.0 -&gt; 2.3.0: boot and self-check passed.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96312"/>
            <a:ext cx="27432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075985"/>
                </a:solidFill>
                <a:latin typeface="Arial"/>
              </a:rPr>
              <a:t>-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96312"/>
            <a:ext cx="10607040" cy="603503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2200" b="0">
                <a:solidFill>
                  <a:srgbClr val="10243A"/>
                </a:solidFill>
                <a:latin typeface="Arial"/>
              </a:rPr>
              <a:t>Broken image: self-check failed; automatic rollback observed.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163824"/>
            <a:ext cx="27432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075985"/>
                </a:solidFill>
                <a:latin typeface="Arial"/>
              </a:rPr>
              <a:t>-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163824"/>
            <a:ext cx="10607040" cy="603503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2200" b="0">
                <a:solidFill>
                  <a:srgbClr val="10243A"/>
                </a:solidFill>
                <a:latin typeface="Arial"/>
              </a:rPr>
              <a:t>Manual rollback tested both ways; stable fallback restored and verified.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831335"/>
            <a:ext cx="27432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075985"/>
                </a:solidFill>
                <a:latin typeface="Arial"/>
              </a:rPr>
              <a:t>-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831335"/>
            <a:ext cx="10607040" cy="603503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2200" b="0">
                <a:solidFill>
                  <a:srgbClr val="10243A"/>
                </a:solidFill>
                <a:latin typeface="Arial"/>
              </a:rPr>
              <a:t>Both builds: garbage, truncated, corrupted and interrupted-image tests.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498848"/>
            <a:ext cx="27432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075985"/>
                </a:solidFill>
                <a:latin typeface="Arial"/>
              </a:rPr>
              <a:t>-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98848"/>
            <a:ext cx="10607040" cy="603503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2200" b="0">
                <a:solidFill>
                  <a:srgbClr val="10243A"/>
                </a:solidFill>
                <a:latin typeface="Arial"/>
              </a:rPr>
              <a:t>Downgrade guard and server/channel/input-error checks captured in logs.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166360"/>
            <a:ext cx="27432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075985"/>
                </a:solidFill>
                <a:latin typeface="Arial"/>
              </a:rPr>
              <a:t>-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166360"/>
            <a:ext cx="10607040" cy="603503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2200" b="0">
                <a:solidFill>
                  <a:srgbClr val="10243A"/>
                </a:solidFill>
                <a:latin typeface="Arial"/>
              </a:rPr>
              <a:t>Limitation: Wi-Fi loss during transfer remains inconclusive.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75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1400" b="1">
                <a:solidFill>
                  <a:srgbClr val="075985"/>
                </a:solidFill>
                <a:latin typeface="Arial"/>
              </a:rPr>
              <a:t>05 / FUNCTIONAL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1155680" cy="7315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3200" b="1">
                <a:solidFill>
                  <a:srgbClr val="10243A"/>
                </a:solidFill>
                <a:latin typeface="Arial"/>
              </a:rPr>
              <a:t>Product features verified on the bench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6070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1100" b="0">
                <a:solidFill>
                  <a:srgbClr val="10243A"/>
                </a:solidFill>
                <a:latin typeface="Arial"/>
              </a:rPr>
              <a:t>SENTRY SWM-2 | Zolotykh | Defense: 23 Oct 2026 | Evidence: 19-23 Oct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19088"/>
            <a:ext cx="54864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1400" b="1">
                <a:solidFill>
                  <a:srgbClr val="075985"/>
                </a:solidFill>
                <a:latin typeface="Arial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27432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075985"/>
                </a:solidFill>
                <a:latin typeface="Arial"/>
              </a:rPr>
              <a:t>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10607040" cy="603503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2200" b="0">
                <a:solidFill>
                  <a:srgbClr val="10243A"/>
                </a:solidFill>
                <a:latin typeface="Arial"/>
              </a:rPr>
              <a:t>Account/password boundaries; states, lamp, relay, sonar and telemetry.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96312"/>
            <a:ext cx="27432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075985"/>
                </a:solidFill>
                <a:latin typeface="Arial"/>
              </a:rPr>
              <a:t>-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96312"/>
            <a:ext cx="10607040" cy="603503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2200" b="0">
                <a:solidFill>
                  <a:srgbClr val="10243A"/>
                </a:solidFill>
                <a:latin typeface="Arial"/>
              </a:rPr>
              <a:t>K1-K4 and all four state chords; EMERGENCY blocks buttons, reboot-only exit.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163824"/>
            <a:ext cx="27432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075985"/>
                </a:solidFill>
                <a:latin typeface="Arial"/>
              </a:rPr>
              <a:t>-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163824"/>
            <a:ext cx="10607040" cy="603503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2200" b="0">
                <a:solidFill>
                  <a:srgbClr val="10243A"/>
                </a:solidFill>
                <a:latin typeface="Arial"/>
              </a:rPr>
              <a:t>2.3.0 Guard: arm, intrusion delay, ALARM, K4 PANIC and sensor tamper.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831335"/>
            <a:ext cx="27432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075985"/>
                </a:solidFill>
                <a:latin typeface="Arial"/>
              </a:rPr>
              <a:t>-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831335"/>
            <a:ext cx="10607040" cy="603503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2200" b="0">
                <a:solidFill>
                  <a:srgbClr val="10243A"/>
                </a:solidFill>
                <a:latin typeface="Arial"/>
              </a:rPr>
              <a:t>CRITICAL alerts and relay response; acknowledgements and 20-alert retention.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498848"/>
            <a:ext cx="27432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075985"/>
                </a:solidFill>
                <a:latin typeface="Arial"/>
              </a:rPr>
              <a:t>-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98848"/>
            <a:ext cx="10607040" cy="603503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2200" b="0">
                <a:solidFill>
                  <a:srgbClr val="10243A"/>
                </a:solidFill>
                <a:latin typeface="Arial"/>
              </a:rPr>
              <a:t>2.1.0 Guard/Alert commands report E099: feature planned for 2.3.0.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166360"/>
            <a:ext cx="27432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075985"/>
                </a:solidFill>
                <a:latin typeface="Arial"/>
              </a:rPr>
              <a:t>-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166360"/>
            <a:ext cx="10607040" cy="603503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2200" b="0">
                <a:solidFill>
                  <a:srgbClr val="10243A"/>
                </a:solidFill>
                <a:latin typeface="Arial"/>
              </a:rPr>
              <a:t>LED/relay video and sanitized UART logs included in the complete ZIP.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75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1400" b="1">
                <a:solidFill>
                  <a:srgbClr val="075985"/>
                </a:solidFill>
                <a:latin typeface="Arial"/>
              </a:rPr>
              <a:t>06 / DEFECTS, NOT ASSUMPTIONS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1155680" cy="7315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3200" b="1">
                <a:solidFill>
                  <a:srgbClr val="10243A"/>
                </a:solidFill>
                <a:latin typeface="Arial"/>
              </a:rPr>
              <a:t>Seven confirmed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6070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1100" b="0">
                <a:solidFill>
                  <a:srgbClr val="10243A"/>
                </a:solidFill>
                <a:latin typeface="Arial"/>
              </a:rPr>
              <a:t>SENTRY SWM-2 | Zolotykh | Defense: 23 Oct 2026 | Evidence: 19-23 Oct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19088"/>
            <a:ext cx="54864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1400" b="1">
                <a:solidFill>
                  <a:srgbClr val="075985"/>
                </a:solidFill>
                <a:latin typeface="Arial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55648"/>
            <a:ext cx="132588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075985"/>
                </a:solidFill>
                <a:latin typeface="Arial"/>
              </a:rPr>
              <a:t>BUG-01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1755648"/>
            <a:ext cx="10515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1900" b="1">
                <a:solidFill>
                  <a:srgbClr val="10243A"/>
                </a:solidFill>
                <a:latin typeface="Arial"/>
              </a:rPr>
              <a:t>Both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1755648"/>
            <a:ext cx="8458200" cy="4846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10243A"/>
                </a:solidFill>
                <a:latin typeface="Arial"/>
              </a:rPr>
              <a:t>distance 20 rejected; PRD allows 1-20.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276856"/>
            <a:ext cx="132588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075985"/>
                </a:solidFill>
                <a:latin typeface="Arial"/>
              </a:rPr>
              <a:t>BUG-02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276856"/>
            <a:ext cx="10515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1900" b="1">
                <a:solidFill>
                  <a:srgbClr val="10243A"/>
                </a:solidFill>
                <a:latin typeface="Arial"/>
              </a:rPr>
              <a:t>Both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2276856"/>
            <a:ext cx="8458200" cy="4846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10243A"/>
                </a:solidFill>
                <a:latin typeface="Arial"/>
              </a:rPr>
              <a:t>Relay pulse below 100 ms accepted.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798063"/>
            <a:ext cx="132588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075985"/>
                </a:solidFill>
                <a:latin typeface="Arial"/>
              </a:rPr>
              <a:t>BUG-03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2798063"/>
            <a:ext cx="10515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1900" b="1">
                <a:solidFill>
                  <a:srgbClr val="10243A"/>
                </a:solidFill>
                <a:latin typeface="Arial"/>
              </a:rPr>
              <a:t>2.1.0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2798063"/>
            <a:ext cx="8458200" cy="4846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10243A"/>
                </a:solidFill>
                <a:latin typeface="Arial"/>
              </a:rPr>
              <a:t>Health interval 300 s rejected; beta accepts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319272"/>
            <a:ext cx="132588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075985"/>
                </a:solidFill>
                <a:latin typeface="Arial"/>
              </a:rPr>
              <a:t>BUG-04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3319272"/>
            <a:ext cx="10515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1900" b="1">
                <a:solidFill>
                  <a:srgbClr val="10243A"/>
                </a:solidFill>
                <a:latin typeface="Arial"/>
              </a:rPr>
              <a:t>Both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3319272"/>
            <a:ext cx="8458200" cy="4846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10243A"/>
                </a:solidFill>
                <a:latin typeface="Arial"/>
              </a:rPr>
              <a:t>Relay cycles: double-count / reboot loses increment.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840479"/>
            <a:ext cx="132588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075985"/>
                </a:solidFill>
                <a:latin typeface="Arial"/>
              </a:rPr>
              <a:t>BUG-05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65960" y="3840479"/>
            <a:ext cx="10515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1900" b="1">
                <a:solidFill>
                  <a:srgbClr val="10243A"/>
                </a:solidFill>
                <a:latin typeface="Arial"/>
              </a:rPr>
              <a:t>2.1.0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3840479"/>
            <a:ext cx="8458200" cy="4846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10243A"/>
                </a:solidFill>
                <a:latin typeface="Arial"/>
              </a:rPr>
              <a:t>Lamp timer message says ms instead of s (cosmetic).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361688"/>
            <a:ext cx="132588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075985"/>
                </a:solidFill>
                <a:latin typeface="Arial"/>
              </a:rPr>
              <a:t>BUG-06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4361688"/>
            <a:ext cx="10515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1900" b="1">
                <a:solidFill>
                  <a:srgbClr val="10243A"/>
                </a:solidFill>
                <a:latin typeface="Arial"/>
              </a:rPr>
              <a:t>2.3.0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63240" y="4361688"/>
            <a:ext cx="8458200" cy="4846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10243A"/>
                </a:solidFill>
                <a:latin typeface="Arial"/>
              </a:rPr>
              <a:t>Wrong-PIN count accumulates until reboot: false-alarm risk.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4882896"/>
            <a:ext cx="132588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075985"/>
                </a:solidFill>
                <a:latin typeface="Arial"/>
              </a:rPr>
              <a:t>BUG-07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65960" y="4882896"/>
            <a:ext cx="10515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1900" b="1">
                <a:solidFill>
                  <a:srgbClr val="10243A"/>
                </a:solidFill>
                <a:latin typeface="Arial"/>
              </a:rPr>
              <a:t>Both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63240" y="4882896"/>
            <a:ext cx="8458200" cy="4846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10243A"/>
                </a:solidFill>
                <a:latin typeface="Arial"/>
              </a:rPr>
              <a:t>Documented calibration-reset syntax rejected.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5687568"/>
            <a:ext cx="1097280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1800" b="0">
                <a:solidFill>
                  <a:srgbClr val="10243A"/>
                </a:solidFill>
                <a:latin typeface="Arial"/>
              </a:rPr>
              <a:t>Most are existing defects, not beta regressions. Debug-secret finding disclosed and redacted.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75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1400" b="1">
                <a:solidFill>
                  <a:srgbClr val="075985"/>
                </a:solidFill>
                <a:latin typeface="Arial"/>
              </a:rPr>
              <a:t>07 / OCTOBER 23 LIVE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1155680" cy="7315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3200" b="1">
                <a:solidFill>
                  <a:srgbClr val="10243A"/>
                </a:solidFill>
                <a:latin typeface="Arial"/>
              </a:rPr>
              <a:t>Automated regression: real board, real assertions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6070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1100" b="0">
                <a:solidFill>
                  <a:srgbClr val="10243A"/>
                </a:solidFill>
                <a:latin typeface="Arial"/>
              </a:rPr>
              <a:t>SENTRY SWM-2 | Zolotykh | Defense: 23 Oct 2026 | Evidence: 19-23 Oct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19088"/>
            <a:ext cx="54864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1400" b="1">
                <a:solidFill>
                  <a:srgbClr val="075985"/>
                </a:solidFill>
                <a:latin typeface="Arial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91640"/>
            <a:ext cx="10972800" cy="5486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2600" b="1">
                <a:solidFill>
                  <a:srgbClr val="10243A"/>
                </a:solidFill>
                <a:latin typeface="Arial"/>
              </a:rPr>
              <a:t>Firmware 2.3.0: 4 tests | 1 PASS | 3 FAIL | 0 errors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423160"/>
            <a:ext cx="100584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991B1B"/>
                </a:solidFill>
                <a:latin typeface="Arial"/>
              </a:rPr>
              <a:t>FAIL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423160"/>
            <a:ext cx="978408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2200" b="0">
                <a:solidFill>
                  <a:srgbClr val="10243A"/>
                </a:solidFill>
                <a:latin typeface="Arial"/>
              </a:rPr>
              <a:t>BUG-01: distance 20 must be accepted.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44368"/>
            <a:ext cx="100584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991B1B"/>
                </a:solidFill>
                <a:latin typeface="Arial"/>
              </a:rPr>
              <a:t>FAIL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944368"/>
            <a:ext cx="978408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2200" b="0">
                <a:solidFill>
                  <a:srgbClr val="10243A"/>
                </a:solidFill>
                <a:latin typeface="Arial"/>
              </a:rPr>
              <a:t>BUG-02: relay pulse 99 ms must be rejected.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465576"/>
            <a:ext cx="100584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075985"/>
                </a:solidFill>
                <a:latin typeface="Arial"/>
              </a:rPr>
              <a:t>PASS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465576"/>
            <a:ext cx="978408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2200" b="0">
                <a:solidFill>
                  <a:srgbClr val="10243A"/>
                </a:solidFill>
                <a:latin typeface="Arial"/>
              </a:rPr>
              <a:t>BUG-03: health 300 s accepted; 301 s rejected.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986783"/>
            <a:ext cx="100584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991B1B"/>
                </a:solidFill>
                <a:latin typeface="Arial"/>
              </a:rPr>
              <a:t>FAIL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986783"/>
            <a:ext cx="978408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2200" b="0">
                <a:solidFill>
                  <a:srgbClr val="10243A"/>
                </a:solidFill>
                <a:latin typeface="Arial"/>
              </a:rPr>
              <a:t>BUG-07: distance calibrate reset must work.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681728"/>
            <a:ext cx="10972800" cy="6858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10243A"/>
                </a:solidFill>
                <a:latin typeface="Arial"/>
              </a:rPr>
              <a:t>Python unittest + pyserial | sanitized transcript + assertions + JSON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0243A"/>
                </a:solidFill>
                <a:latin typeface="Arial"/>
              </a:rPr>
              <a:t>Cleanup verified: relay closed; starting health interval restored.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623560"/>
            <a:ext cx="1097280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1800" b="0">
                <a:solidFill>
                  <a:srgbClr val="10243A"/>
                </a:solidFill>
                <a:latin typeface="Arial"/>
              </a:rPr>
              <a:t>7 offline harness checks passed. Live suite validated on 2.3.0 only; physical outputs remain manual.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75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1400" b="1">
                <a:solidFill>
                  <a:srgbClr val="075985"/>
                </a:solidFill>
                <a:latin typeface="Arial"/>
              </a:rPr>
              <a:t>08 / RECOMMENDATION AND 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1155680" cy="7315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3200" b="1">
                <a:solidFill>
                  <a:srgbClr val="10243A"/>
                </a:solidFill>
                <a:latin typeface="Arial"/>
              </a:rPr>
              <a:t>Decision: do not promote 2.3.0 yet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6070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1100" b="0">
                <a:solidFill>
                  <a:srgbClr val="10243A"/>
                </a:solidFill>
                <a:latin typeface="Arial"/>
              </a:rPr>
              <a:t>SENTRY SWM-2 | Zolotykh | Defense: 23 Oct 2026 | Evidence: 19-23 Oct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19088"/>
            <a:ext cx="54864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1400" b="1">
                <a:solidFill>
                  <a:srgbClr val="075985"/>
                </a:solidFill>
                <a:latin typeface="Arial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27432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075985"/>
                </a:solidFill>
                <a:latin typeface="Arial"/>
              </a:rPr>
              <a:t>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10607040" cy="603503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2200" b="0">
                <a:solidFill>
                  <a:srgbClr val="10243A"/>
                </a:solidFill>
                <a:latin typeface="Arial"/>
              </a:rPr>
              <a:t>NO-GO: confirmed PRD violations plus Guard false-alarm risk.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96312"/>
            <a:ext cx="27432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075985"/>
                </a:solidFill>
                <a:latin typeface="Arial"/>
              </a:rPr>
              <a:t>-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96312"/>
            <a:ext cx="10607040" cy="603503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2200" b="0">
                <a:solidFill>
                  <a:srgbClr val="10243A"/>
                </a:solidFill>
                <a:latin typeface="Arial"/>
              </a:rPr>
              <a:t>Fix BUG-01/02/04/06; assess remaining defects and rerun regression tests.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163824"/>
            <a:ext cx="27432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075985"/>
                </a:solidFill>
                <a:latin typeface="Arial"/>
              </a:rPr>
              <a:t>-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163824"/>
            <a:ext cx="10607040" cy="603503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2200" b="0">
                <a:solidFill>
                  <a:srgbClr val="10243A"/>
                </a:solidFill>
                <a:latin typeface="Arial"/>
              </a:rPr>
              <a:t>Known failures stay red: the suite must not accept incorrect firmware.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831335"/>
            <a:ext cx="27432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075985"/>
                </a:solidFill>
                <a:latin typeface="Arial"/>
              </a:rPr>
              <a:t>-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831335"/>
            <a:ext cx="10607040" cy="603503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2200" b="0">
                <a:solidFill>
                  <a:srgbClr val="10243A"/>
                </a:solidFill>
                <a:latin typeface="Arial"/>
              </a:rPr>
              <a:t>Not run: 5/300 cm calibration targets; relay contacts under real load.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498848"/>
            <a:ext cx="27432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075985"/>
                </a:solidFill>
                <a:latin typeface="Arial"/>
              </a:rPr>
              <a:t>-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98848"/>
            <a:ext cx="10607040" cy="603503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2200" b="0">
                <a:solidFill>
                  <a:srgbClr val="10243A"/>
                </a:solidFill>
                <a:latin typeface="Arial"/>
              </a:rPr>
              <a:t>Inconclusive: Wi-Fi loss during OTA. New automated suite: beta-only live run.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166360"/>
            <a:ext cx="27432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075985"/>
                </a:solidFill>
                <a:latin typeface="Arial"/>
              </a:rPr>
              <a:t>-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166360"/>
            <a:ext cx="10607040" cy="603503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200"/>
              </a:spcAft>
            </a:pPr>
            <a:r>
              <a:rPr sz="2200" b="0">
                <a:solidFill>
                  <a:srgbClr val="10243A"/>
                </a:solidFill>
                <a:latin typeface="Arial"/>
              </a:rPr>
              <a:t>Delivered: report, traceability, bugs, logs, video, test code and rerun guide.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